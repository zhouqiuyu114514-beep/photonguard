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ff16a82fad4661" /><Relationship Type="http://schemas.openxmlformats.org/officeDocument/2006/relationships/extended-properties" Target="/docProps/app.xml" Id="Rfcb5563f31964195" /><Relationship Type="http://schemas.openxmlformats.org/officeDocument/2006/relationships/officeDocument" Target="/ppt/presentation.xml" Id="R4134a4a2de4341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597b2b7c814cff"/>
  </p:sldMasterIdLst>
  <p:notesMasterIdLst>
    <p:notesMasterId xmlns:r="http://schemas.openxmlformats.org/officeDocument/2006/relationships" r:id="R4bb1bf774dde4fd1"/>
  </p:notesMasterIdLst>
  <p:sldIdLst>
    <p:sldId xmlns:r="http://schemas.openxmlformats.org/officeDocument/2006/relationships" id="256" r:id="Rb1260b3b49bb40ec"/>
    <p:sldId xmlns:r="http://schemas.openxmlformats.org/officeDocument/2006/relationships" id="257" r:id="Rf631c0938878432c"/>
    <p:sldId xmlns:r="http://schemas.openxmlformats.org/officeDocument/2006/relationships" id="258" r:id="R3b1d878246484334"/>
    <p:sldId xmlns:r="http://schemas.openxmlformats.org/officeDocument/2006/relationships" id="259" r:id="R66e4f5eba0234182"/>
    <p:sldId xmlns:r="http://schemas.openxmlformats.org/officeDocument/2006/relationships" id="260" r:id="R92cc3eda0f7449b8"/>
    <p:sldId xmlns:r="http://schemas.openxmlformats.org/officeDocument/2006/relationships" id="261" r:id="Re2222e8f7a774ea8"/>
    <p:sldId xmlns:r="http://schemas.openxmlformats.org/officeDocument/2006/relationships" id="262" r:id="Rdfe4cc49f9484250"/>
    <p:sldId xmlns:r="http://schemas.openxmlformats.org/officeDocument/2006/relationships" id="263" r:id="R1f4865f5771c45ed"/>
    <p:sldId xmlns:r="http://schemas.openxmlformats.org/officeDocument/2006/relationships" id="264" r:id="Re84921f0daf5423b"/>
    <p:sldId xmlns:r="http://schemas.openxmlformats.org/officeDocument/2006/relationships" id="265" r:id="Rbe590a39e0d34304"/>
    <p:sldId xmlns:r="http://schemas.openxmlformats.org/officeDocument/2006/relationships" id="266" r:id="R86423b3d615a4eca"/>
    <p:sldId xmlns:r="http://schemas.openxmlformats.org/officeDocument/2006/relationships" id="267" r:id="Rd2a08c66f2ac42f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065eb558724009" /><Relationship Type="http://schemas.openxmlformats.org/officeDocument/2006/relationships/slideMaster" Target="/ppt/slideMasters/slideMaster1.xml" Id="R87597b2b7c814cff" /><Relationship Type="http://schemas.openxmlformats.org/officeDocument/2006/relationships/notesMaster" Target="/ppt/notesMasters/notesMaster1.xml" Id="R4bb1bf774dde4fd1" /><Relationship Type="http://schemas.openxmlformats.org/officeDocument/2006/relationships/presProps" Target="/ppt/presProps.xml" Id="R7976479335f049bf" /><Relationship Type="http://schemas.openxmlformats.org/officeDocument/2006/relationships/tableStyles" Target="/ppt/tableStyles.xml" Id="R9a5c20f82a4e4957" /><Relationship Type="http://schemas.openxmlformats.org/officeDocument/2006/relationships/slide" Target="/ppt/slides/slide1.xml" Id="Rb1260b3b49bb40ec" /><Relationship Type="http://schemas.openxmlformats.org/officeDocument/2006/relationships/slide" Target="/ppt/slides/slide2.xml" Id="Rf631c0938878432c" /><Relationship Type="http://schemas.openxmlformats.org/officeDocument/2006/relationships/slide" Target="/ppt/slides/slide3.xml" Id="R3b1d878246484334" /><Relationship Type="http://schemas.openxmlformats.org/officeDocument/2006/relationships/slide" Target="/ppt/slides/slide4.xml" Id="R66e4f5eba0234182" /><Relationship Type="http://schemas.openxmlformats.org/officeDocument/2006/relationships/slide" Target="/ppt/slides/slide5.xml" Id="R92cc3eda0f7449b8" /><Relationship Type="http://schemas.openxmlformats.org/officeDocument/2006/relationships/slide" Target="/ppt/slides/slide6.xml" Id="Re2222e8f7a774ea8" /><Relationship Type="http://schemas.openxmlformats.org/officeDocument/2006/relationships/slide" Target="/ppt/slides/slide7.xml" Id="Rdfe4cc49f9484250" /><Relationship Type="http://schemas.openxmlformats.org/officeDocument/2006/relationships/slide" Target="/ppt/slides/slide8.xml" Id="R1f4865f5771c45ed" /><Relationship Type="http://schemas.openxmlformats.org/officeDocument/2006/relationships/slide" Target="/ppt/slides/slide9.xml" Id="Re84921f0daf5423b" /><Relationship Type="http://schemas.openxmlformats.org/officeDocument/2006/relationships/slide" Target="/ppt/slides/slide10.xml" Id="Rbe590a39e0d34304" /><Relationship Type="http://schemas.openxmlformats.org/officeDocument/2006/relationships/slide" Target="/ppt/slides/slide11.xml" Id="R86423b3d615a4eca" /><Relationship Type="http://schemas.openxmlformats.org/officeDocument/2006/relationships/slide" Target="/ppt/slides/slide12.xml" Id="Rd2a08c66f2ac42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a60d7c57f645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76284e0bb3433e" /><Relationship Type="http://schemas.openxmlformats.org/officeDocument/2006/relationships/notesMaster" Target="/ppt/notesMasters/notesMaster1.xml" Id="R2dd5fb3618a94a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3926269d074d8b" /><Relationship Type="http://schemas.openxmlformats.org/officeDocument/2006/relationships/notesMaster" Target="/ppt/notesMasters/notesMaster1.xml" Id="Rd34955ef392348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df6129f40a4e99" /><Relationship Type="http://schemas.openxmlformats.org/officeDocument/2006/relationships/notesMaster" Target="/ppt/notesMasters/notesMaster1.xml" Id="Ra8eb64f01d3a432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28845b66074036" /><Relationship Type="http://schemas.openxmlformats.org/officeDocument/2006/relationships/notesMaster" Target="/ppt/notesMasters/notesMaster1.xml" Id="R54678d9d895547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61b96693944859" /><Relationship Type="http://schemas.openxmlformats.org/officeDocument/2006/relationships/notesMaster" Target="/ppt/notesMasters/notesMaster1.xml" Id="Rb386070d9a3342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3eb8c01aa1463f" /><Relationship Type="http://schemas.openxmlformats.org/officeDocument/2006/relationships/notesMaster" Target="/ppt/notesMasters/notesMaster1.xml" Id="Rf4fb1715eb0840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f485ee01044bfd" /><Relationship Type="http://schemas.openxmlformats.org/officeDocument/2006/relationships/notesMaster" Target="/ppt/notesMasters/notesMaster1.xml" Id="R1a8923a126a14b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0e13fafd6f4c6b" /><Relationship Type="http://schemas.openxmlformats.org/officeDocument/2006/relationships/notesMaster" Target="/ppt/notesMasters/notesMaster1.xml" Id="Rbbb717260609477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28fad6e18dc441c" /><Relationship Type="http://schemas.openxmlformats.org/officeDocument/2006/relationships/notesMaster" Target="/ppt/notesMasters/notesMaster1.xml" Id="R8a2668a5d71d4a8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77f2cd031ab4f2c" /><Relationship Type="http://schemas.openxmlformats.org/officeDocument/2006/relationships/notesMaster" Target="/ppt/notesMasters/notesMaster1.xml" Id="R7af390cdf61c4cd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88790e5f41c48d1" /><Relationship Type="http://schemas.openxmlformats.org/officeDocument/2006/relationships/notesMaster" Target="/ppt/notesMasters/notesMaster1.xml" Id="Rcd071f5e26e04fd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1be682df9ee4597" /><Relationship Type="http://schemas.openxmlformats.org/officeDocument/2006/relationships/notesMaster" Target="/ppt/notesMasters/notesMaster1.xml" Id="R7032b81e67d349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定位：将自然语言目标和 CSV 数据组织为可执行、可修改、可复核的连续实验。实际产品截图，非概念图。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比较为工作方式分析，不是统一环境性能评测。通用工具 Agent 的状态、工具、人工确认能力可由框架配置，例如 https://docs.langchain.com/oss/python/langgraph/overview 。专业软件具备各自专门模型与工程功能；未进行竞品胜率或耗时实验。PhotonGuard 能力据当前源码与保存任务。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原创矢量图；DeepSeek API 负责理解与建议；PhotonGuard 管理来源、约束、计划与版本；用户批准后调用数值工具。结果继续进入下一轮。所有节点、文字和连线为 PowerPoint 原生对象。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薄膜反演限已知折射率的单层模型；高斯采用 M²=1 与 1/e² 强度半径；双缝反演需要波长、焦距、平面及相位等条件。正向多层比较不能混写成任意多层联合反演。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来源为保存的实际主输入与 plan.json。四分之一波指光学厚度 n*d，实际几何厚度 d=850/(4*n) nm。高低折射率 2.2/1.46，对应 96.590909/145.547945 nm。完整真实计划界面见报告第6页。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结果复用是一种已有数值使用方式；贡献不是发明缓存，而是语言修改、有效条件、执行计划和结果来源之间的一致组织。不同场景对允许的评价变化分别检查。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来源：2026-10-18 保存的实际结果。初始采样包括 700、850、950 nm；850 nm 下 8 层反射率为 0.8602270654481502，超过 0.75。条件为正入射、两侧空气、无损无色散。4 次候选快速计算，Meep 为 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后续只改评价波长，原物理膜系和三个采样点完全相同。700 nm 下最大值为 6 层 0.5272987123721635，四个候选均未达到 0.75；不是把 8 层优化为 6 层，也不是不同波长间性能提升。原案例计划整理 2 次 AI 请求、后续修改 1 次，共 3 次；零新增求解不等于零请求、零处理时间。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历史记录 before=908188816d1f4647a5100e25c58f6ecb，after=4aa157cc92a54da9ad9f0af490700c0d。初始633 nm，AI从[633,700,850]目录明确选择wavelength-850；用户批准后教学补采并联合分析。搜索范围前后均为[0,1000]nm；原记录12个模式到1个模式，208.18706686377598 nm。图按保存模式位置重绘，未重新求解；截图是原记录在当前未修改界面的只读呈现。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三项自主流程分别对应 session_ai/dialogue_update/evidence_reread、planner/executor、result_reuse 与版本记录。复用传输矩阵和拟合等开源方法；创新是预置光学任务中的条件、执行与连续结果组织，不声称独创基础求解算法。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上方三项是限定任务效果；下方为验证层记录，批次不合并。历史1833完整回归属于629a65f，273专项检查属于7f11fb09；476次维护请求包含三场景11次请求。完整源记录与公开副本来源见审查资料。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按所有者最新要求，正式报告与PPT不重复填写网盘地址或提取码。地址和提取码仅在成果入口与提交说明。访问验证分开记录，不将本机读取等同于另一设备下载。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e4a5f7c072429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ac27ed6773455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096ac165e84a5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b08222d6d4414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c1e04fa04348b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09474f23e5414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9E7B280-DAEF-4A1B-8912-7769C9A416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E614E1A-6DC6-4957-BC5B-20174891CC8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CD46BE6-82CD-4B5E-B737-E564A67A4D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E58A1DD-11D8-4A57-A3A3-38E79F192E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328308E-1EE3-4823-A0D7-AA3E9CADD7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4290036-C800-4168-A8CE-90B5A0A8DB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4C45476-B52B-4922-9F2A-48613AD694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FCCDFFC-9382-49DD-B1C0-1620A85F052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EB58BE5-B443-4950-BD2F-3227196C85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7DBEFA0-D95D-43C8-AD17-C30D35DC5A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38bb69d5b0430f" /><Relationship Type="http://schemas.openxmlformats.org/officeDocument/2006/relationships/slideLayout" Target="/ppt/slideLayouts/slideLayout1.xml" Id="Rad519fd417d34bd8" /><Relationship Type="http://schemas.openxmlformats.org/officeDocument/2006/relationships/slideLayout" Target="/ppt/slideLayouts/slideLayout2.xml" Id="Rf466c055c36c4cc6" /><Relationship Type="http://schemas.openxmlformats.org/officeDocument/2006/relationships/slideLayout" Target="/ppt/slideLayouts/slideLayout3.xml" Id="R85eee816367e489f" /><Relationship Type="http://schemas.openxmlformats.org/officeDocument/2006/relationships/slideLayout" Target="/ppt/slideLayouts/slideLayout4.xml" Id="R17b7ee161f784e3f" /><Relationship Type="http://schemas.openxmlformats.org/officeDocument/2006/relationships/slideLayout" Target="/ppt/slideLayouts/slideLayout5.xml" Id="Rd346004cca9f4f3e" /><Relationship Type="http://schemas.openxmlformats.org/officeDocument/2006/relationships/slideLayout" Target="/ppt/slideLayouts/slideLayout6.xml" Id="Rc92b12840e144d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519fd417d34bd8"/>
    <p:sldLayoutId xmlns:r="http://schemas.openxmlformats.org/officeDocument/2006/relationships" id="2147483650" r:id="Rf466c055c36c4cc6"/>
    <p:sldLayoutId xmlns:r="http://schemas.openxmlformats.org/officeDocument/2006/relationships" id="2147483651" r:id="R85eee816367e489f"/>
    <p:sldLayoutId xmlns:r="http://schemas.openxmlformats.org/officeDocument/2006/relationships" id="2147483652" r:id="R17b7ee161f784e3f"/>
    <p:sldLayoutId xmlns:r="http://schemas.openxmlformats.org/officeDocument/2006/relationships" id="2147483653" r:id="Rd346004cca9f4f3e"/>
    <p:sldLayoutId xmlns:r="http://schemas.openxmlformats.org/officeDocument/2006/relationships" id="2147483654" r:id="Rc92b12840e144d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f2b5e4ea26442c" /><Relationship Type="http://schemas.openxmlformats.org/officeDocument/2006/relationships/image" Target="/ppt/media/image.png" Id="R30b44b3037e34028" /><Relationship Type="http://schemas.openxmlformats.org/officeDocument/2006/relationships/notesSlide" Target="/ppt/notesSlides/notesSlide1.xml" Id="R25adae977ff446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e1b6876ae84617" /><Relationship Type="http://schemas.openxmlformats.org/officeDocument/2006/relationships/notesSlide" Target="/ppt/notesSlides/notesSlide2.xml" Id="Rad5030341a4c49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34d4f2170c4845" /><Relationship Type="http://schemas.openxmlformats.org/officeDocument/2006/relationships/notesSlide" Target="/ppt/notesSlides/notesSlide3.xml" Id="R577e64c2f3e945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652a12104c4ffd" /><Relationship Type="http://schemas.openxmlformats.org/officeDocument/2006/relationships/notesSlide" Target="/ppt/notesSlides/notesSlide4.xml" Id="Rdc6f901ac62340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a5a17889a7466d" /><Relationship Type="http://schemas.openxmlformats.org/officeDocument/2006/relationships/notesSlide" Target="/ppt/notesSlides/notesSlide5.xml" Id="Ra033d98fb61841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88ae25e9e74ca5" /><Relationship Type="http://schemas.openxmlformats.org/officeDocument/2006/relationships/notesSlide" Target="/ppt/notesSlides/notesSlide6.xml" Id="R14020beddd6542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6f7bfeb37a40c3" /><Relationship Type="http://schemas.openxmlformats.org/officeDocument/2006/relationships/chart" Target="/ppt/slides/charts/chart1.xml" Id="R1c5b1957a62c4721" /><Relationship Type="http://schemas.openxmlformats.org/officeDocument/2006/relationships/notesSlide" Target="/ppt/notesSlides/notesSlide7.xml" Id="Re5430f558a824f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dead2915184ed7" /><Relationship Type="http://schemas.openxmlformats.org/officeDocument/2006/relationships/chart" Target="/ppt/slides/charts/chart2.xml" Id="R9849d7ee14c64ccf" /><Relationship Type="http://schemas.openxmlformats.org/officeDocument/2006/relationships/notesSlide" Target="/ppt/notesSlides/notesSlide8.xml" Id="R524ebcaaf7c4430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35a48dea0b4207" /><Relationship Type="http://schemas.openxmlformats.org/officeDocument/2006/relationships/image" Target="/ppt/media/image2.png" Id="R6ab45921d60e4194" /><Relationship Type="http://schemas.openxmlformats.org/officeDocument/2006/relationships/image" Target="/ppt/media/image3.png" Id="R4e11d9400f70462b" /><Relationship Type="http://schemas.openxmlformats.org/officeDocument/2006/relationships/notesSlide" Target="/ppt/notesSlides/notesSlide9.xml" Id="R3242c09bc6d1433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e679ec3be445e2" /><Relationship Type="http://schemas.openxmlformats.org/officeDocument/2006/relationships/notesSlide" Target="/ppt/notesSlides/notesSlide10.xml" Id="R883ff985596f4ff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43c5e338aa4487" /><Relationship Type="http://schemas.openxmlformats.org/officeDocument/2006/relationships/notesSlide" Target="/ppt/notesSlides/notesSlide11.xml" Id="R505757342b8a4c4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341cd366f94eda" /><Relationship Type="http://schemas.openxmlformats.org/officeDocument/2006/relationships/notesSlide" Target="/ppt/notesSlides/notesSlide12.xml" Id="R80875275e7084a8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ns0:chartSpace xmlns:ns0="http://schemas.openxmlformats.org/drawingml/2006/chart" xmlns:ns1="http://schemas.openxmlformats.org/drawingml/2006/main" xmlns:ns2="http://schemas.openxmlformats.org/officeDocument/2006/relationships">
  <ns0:lang val="en-US"/>
  <ns0:chart>
    <ns0:plotArea>
      <ns0:barChart>
        <ns0:barDir val="col"/>
        <ns0:varyColors val="0"/>
        <ns0:ser>
          <ns0:idx val="0"/>
          <ns0:order val="0"/>
          <ns0:tx>
            <ns0:v>850 nm 反射率（%）</ns0:v>
          </ns0:tx>
          <ns0:spPr>
            <ns1:solidFill>
              <ns1:srgbClr val="247E78"/>
            </ns1:solidFill>
          </ns0:spPr>
          <ns0:invertIfNegative val="0"/>
          <ns0:cat>
            <ns0:strRef>
              <ns0:f>'Chart Data'!$A$2:$A$5</ns0:f>
              <ns0:strCache>
                <ns0:ptCount val="4"/>
                <ns0:pt idx="0">
                  <ns0:v>2 层</ns0:v>
                </ns0:pt>
                <ns0:pt idx="1">
                  <ns0:v>4 层</ns0:v>
                </ns0:pt>
                <ns0:pt idx="2">
                  <ns0:v>6 层</ns0:v>
                </ns0:pt>
                <ns0:pt idx="3">
                  <ns0:v>8 层</ns0:v>
                </ns0:pt>
              </ns0:strCache>
            </ns0:strRef>
          </ns0:cat>
          <ns0:val>
            <ns0:numRef>
              <ns0:f>'Chart Data'!$B$2:$B$5</ns0:f>
              <ns0:numCache>
                <ns0:formatCode>General</ns0:formatCode>
                <ns0:ptCount val="4"/>
                <ns0:pt idx="0">
                  <ns0:v>15.09</ns0:v>
                </ns0:pt>
                <ns0:pt idx="1">
                  <ns0:v>45.58</ns0:v>
                </ns0:pt>
                <ns0:pt idx="2">
                  <ns0:v>71</ns0:v>
                </ns0:pt>
                <ns0:pt idx="3">
                  <ns0:v>86.02</ns0:v>
                </ns0:pt>
              </ns0:numCache>
            </ns0:numRef>
          </ns0:val>
        </ns0:ser>
        <ns0:dLbls>
          <ns0:txPr>
            <ns1:bodyPr anchorCtr="1"/>
            <ns1:lstStyle/>
            <ns1:p>
              <ns1:pPr>
                <ns1:defRPr sz="2025" b="1">
                  <ns1:solidFill>
                    <ns1:srgbClr val="143C37"/>
                  </ns1:solidFill>
                  <ns1:latin typeface="Microsoft YaHei"/>
                  <ns1:ea typeface="Microsoft YaHei"/>
                  <ns1:cs typeface="Microsoft YaHei"/>
                </ns1:defRPr>
              </ns1:pPr>
            </ns1:p>
          </ns0:txPr>
          <ns0:dLblPos val="outEnd"/>
          <ns0:showLegendKey val="0"/>
          <ns0:showVal val="1"/>
          <ns0:showCatName val="0"/>
          <ns0:showSerName val="0"/>
          <ns0:showPercent val="0"/>
          <ns0:showBubbleSize val="0"/>
          <ns0:showLeaderLines val="0"/>
          <ns0:numFmt formatCode="0.00" sourceLinked="0"/>
        </ns0:dLbls>
        <ns0:gapWidth val="100"/>
        <ns0:axId val="48650112"/>
        <ns0:axId val="48672768"/>
      </ns0:barChart>
      <ns0:catAx>
        <ns0:axId val="48650112"/>
        <ns0:scaling>
          <ns0:orientation val="minMax"/>
        </ns0:scaling>
        <ns0:delete val="0"/>
        <ns0:axPos val="b"/>
        <ns0:numFmt formatCode="General"/>
        <ns0:majorTickMark val="none"/>
        <ns0:minorTickMark val="none"/>
        <ns0:spPr>
          <ns1:ln w="9525">
            <ns1:solidFill>
              <ns1:srgbClr val="D4D4D4"/>
            </ns1:solidFill>
            <ns1:prstDash val="solid"/>
          </ns1:ln>
        </ns0:spPr>
        <ns0:txPr>
          <ns1:bodyPr anchorCtr="1"/>
          <ns1:lstStyle/>
          <ns1:p>
            <ns1:pPr>
              <ns1:defRPr sz="1875">
                <ns1:solidFill>
                  <ns1:srgbClr val="19313D"/>
                </ns1:solidFill>
                <ns1:latin typeface="Microsoft YaHei"/>
                <ns1:ea typeface="Microsoft YaHei"/>
                <ns1:cs typeface="Microsoft YaHei"/>
              </ns1:defRPr>
            </ns1:pPr>
          </ns1:p>
        </ns0:txPr>
        <ns0:crossAx val="48672768"/>
      </ns0:catAx>
      <ns0:valAx>
        <ns0:axId val="48672768"/>
        <ns0:scaling>
          <ns0:orientation val="minMax"/>
          <ns0:max val="100"/>
          <ns0:min val="0"/>
        </ns0:scaling>
        <ns0:delete val="0"/>
        <ns0:axPos val="l"/>
        <ns0:majorGridlines>
          <ns0:spPr>
            <ns1:ln w="9525">
              <ns1:solidFill>
                <ns1:srgbClr val="E4ECE8"/>
              </ns1:solidFill>
            </ns1:ln>
          </ns0:spPr>
        </ns0:majorGridlines>
        <ns0:numFmt formatCode="General"/>
        <ns0:majorTickMark val="none"/>
        <ns0:minorTickMark val="none"/>
        <ns0:spPr>
          <ns1:ln w="9525">
            <ns1:solidFill>
              <ns1:srgbClr val="D4D4D4"/>
            </ns1:solidFill>
            <ns1:prstDash val="solid"/>
          </ns1:ln>
        </ns0:spPr>
        <ns0:txPr>
          <ns1:bodyPr anchorCtr="1"/>
          <ns1:lstStyle/>
          <ns1:p>
            <ns1:pPr>
              <ns1:defRPr sz="1650">
                <ns1:solidFill>
                  <ns1:srgbClr val="5E737D"/>
                </ns1:solidFill>
                <ns1:latin typeface="Microsoft YaHei"/>
                <ns1:ea typeface="Microsoft YaHei"/>
                <ns1:cs typeface="Microsoft YaHei"/>
              </ns1:defRPr>
            </ns1:pPr>
          </ns1:p>
        </ns0:txPr>
        <ns0:crossAx val="48650112"/>
        <ns0:crossBetween val="between"/>
        <ns0:majorUnit val="25"/>
      </ns0:valAx>
      <ns0:spPr>
        <ns1:solidFill>
          <ns1:srgbClr val="FFFFFF"/>
        </ns1:solidFill>
      </ns0:spPr>
    </ns0:plotArea>
    <ns0:plotVisOnly val="1"/>
  </ns0:chart>
  <ns0:spPr>
    <ns1:solidFill>
      <ns1:srgbClr val="FFFFFF"/>
    </ns1:solidFill>
  </ns0:spPr>
  <ns0:externalData ns2:id="rIdChartSnapshot1">
    <ns0:autoUpdate val="0"/>
  </ns0:externalData>
</ns0:chartSpace>
</file>

<file path=ppt/slides/charts/chart2.xml><?xml version="1.0" encoding="utf-8"?>
<ns0:chartSpace xmlns:ns0="http://schemas.openxmlformats.org/drawingml/2006/chart" xmlns:ns1="http://schemas.openxmlformats.org/drawingml/2006/main" xmlns:ns2="http://schemas.openxmlformats.org/officeDocument/2006/relationships">
  <ns0:lang val="en-US"/>
  <ns0:chart>
    <ns0:plotArea>
      <ns0:barChart>
        <ns0:barDir val="col"/>
        <ns0:varyColors val="0"/>
        <ns0:ser>
          <ns0:idx val="0"/>
          <ns0:order val="0"/>
          <ns0:tx>
            <ns0:v>700 nm 反射率（%）</ns0:v>
          </ns0:tx>
          <ns0:spPr>
            <ns1:solidFill>
              <ns1:srgbClr val="247E78"/>
            </ns1:solidFill>
          </ns0:spPr>
          <ns0:invertIfNegative val="0"/>
          <ns0:cat>
            <ns0:strRef>
              <ns0:f>'Chart Data'!$A$2:$A$5</ns0:f>
              <ns0:strCache>
                <ns0:ptCount val="4"/>
                <ns0:pt idx="0">
                  <ns0:v>2 层</ns0:v>
                </ns0:pt>
                <ns0:pt idx="1">
                  <ns0:v>4 层</ns0:v>
                </ns0:pt>
                <ns0:pt idx="2">
                  <ns0:v>6 层</ns0:v>
                </ns0:pt>
                <ns0:pt idx="3">
                  <ns0:v>8 层</ns0:v>
                </ns0:pt>
              </ns0:strCache>
            </ns0:strRef>
          </ns0:cat>
          <ns0:val>
            <ns0:numRef>
              <ns0:f>'Chart Data'!$B$2:$B$5</ns0:f>
              <ns0:numCache>
                <ns0:formatCode>General</ns0:formatCode>
                <ns0:ptCount val="4"/>
                <ns0:pt idx="0">
                  <ns0:v>22.81</ns0:v>
                </ns0:pt>
                <ns0:pt idx="1">
                  <ns0:v>46.51</ns0:v>
                </ns0:pt>
                <ns0:pt idx="2">
                  <ns0:v>52.73</ns0:v>
                </ns0:pt>
                <ns0:pt idx="3">
                  <ns0:v>43.61</ns0:v>
                </ns0:pt>
              </ns0:numCache>
            </ns0:numRef>
          </ns0:val>
        </ns0:ser>
        <ns0:dLbls>
          <ns0:txPr>
            <ns1:bodyPr anchorCtr="1"/>
            <ns1:lstStyle/>
            <ns1:p>
              <ns1:pPr>
                <ns1:defRPr sz="2025" b="1">
                  <ns1:solidFill>
                    <ns1:srgbClr val="143C37"/>
                  </ns1:solidFill>
                  <ns1:latin typeface="Microsoft YaHei"/>
                  <ns1:ea typeface="Microsoft YaHei"/>
                  <ns1:cs typeface="Microsoft YaHei"/>
                </ns1:defRPr>
              </ns1:pPr>
            </ns1:p>
          </ns0:txPr>
          <ns0:dLblPos val="outEnd"/>
          <ns0:showLegendKey val="0"/>
          <ns0:showVal val="1"/>
          <ns0:showCatName val="0"/>
          <ns0:showSerName val="0"/>
          <ns0:showPercent val="0"/>
          <ns0:showBubbleSize val="0"/>
          <ns0:showLeaderLines val="0"/>
          <ns0:numFmt formatCode="0.00" sourceLinked="0"/>
        </ns0:dLbls>
        <ns0:gapWidth val="100"/>
        <ns0:axId val="48650112"/>
        <ns0:axId val="48672768"/>
      </ns0:barChart>
      <ns0:catAx>
        <ns0:axId val="48650112"/>
        <ns0:scaling>
          <ns0:orientation val="minMax"/>
        </ns0:scaling>
        <ns0:delete val="0"/>
        <ns0:axPos val="b"/>
        <ns0:numFmt formatCode="General"/>
        <ns0:majorTickMark val="none"/>
        <ns0:minorTickMark val="none"/>
        <ns0:spPr>
          <ns1:ln w="9525">
            <ns1:solidFill>
              <ns1:srgbClr val="D4D4D4"/>
            </ns1:solidFill>
            <ns1:prstDash val="solid"/>
          </ns1:ln>
        </ns0:spPr>
        <ns0:txPr>
          <ns1:bodyPr anchorCtr="1"/>
          <ns1:lstStyle/>
          <ns1:p>
            <ns1:pPr>
              <ns1:defRPr sz="1875">
                <ns1:solidFill>
                  <ns1:srgbClr val="19313D"/>
                </ns1:solidFill>
                <ns1:latin typeface="Microsoft YaHei"/>
                <ns1:ea typeface="Microsoft YaHei"/>
                <ns1:cs typeface="Microsoft YaHei"/>
              </ns1:defRPr>
            </ns1:pPr>
          </ns1:p>
        </ns0:txPr>
        <ns0:crossAx val="48672768"/>
      </ns0:catAx>
      <ns0:valAx>
        <ns0:axId val="48672768"/>
        <ns0:scaling>
          <ns0:orientation val="minMax"/>
          <ns0:max val="100"/>
          <ns0:min val="0"/>
        </ns0:scaling>
        <ns0:delete val="0"/>
        <ns0:axPos val="l"/>
        <ns0:majorGridlines>
          <ns0:spPr>
            <ns1:ln w="9525">
              <ns1:solidFill>
                <ns1:srgbClr val="E4ECE8"/>
              </ns1:solidFill>
            </ns1:ln>
          </ns0:spPr>
        </ns0:majorGridlines>
        <ns0:numFmt formatCode="General"/>
        <ns0:majorTickMark val="none"/>
        <ns0:minorTickMark val="none"/>
        <ns0:spPr>
          <ns1:ln w="9525">
            <ns1:solidFill>
              <ns1:srgbClr val="D4D4D4"/>
            </ns1:solidFill>
            <ns1:prstDash val="solid"/>
          </ns1:ln>
        </ns0:spPr>
        <ns0:txPr>
          <ns1:bodyPr anchorCtr="1"/>
          <ns1:lstStyle/>
          <ns1:p>
            <ns1:pPr>
              <ns1:defRPr sz="1650">
                <ns1:solidFill>
                  <ns1:srgbClr val="5E737D"/>
                </ns1:solidFill>
                <ns1:latin typeface="Microsoft YaHei"/>
                <ns1:ea typeface="Microsoft YaHei"/>
                <ns1:cs typeface="Microsoft YaHei"/>
              </ns1:defRPr>
            </ns1:pPr>
          </ns1:p>
        </ns0:txPr>
        <ns0:crossAx val="48650112"/>
        <ns0:crossBetween val="between"/>
        <ns0:majorUnit val="25"/>
      </ns0:valAx>
      <ns0:spPr>
        <ns1:solidFill>
          <ns1:srgbClr val="FFFFFF"/>
        </ns1:solidFill>
      </ns0:spPr>
    </ns0:plotArea>
    <ns0:plotVisOnly val="1"/>
  </ns0:chart>
  <ns0:spPr>
    <ns1:solidFill>
      <ns1:srgbClr val="FFFFFF"/>
    </ns1:solidFill>
  </ns0:spPr>
  <ns0:externalData ns2:id="rIdChartSnapshot1">
    <ns0:autoUpdate val="0"/>
  </ns0:externalData>
</ns0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3C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ED9845-CDF8-442D-8929-3877CADA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PhotonGuard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23C710-0963-4E5B-BF2F-3FC6838F5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350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350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350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350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350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350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350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350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350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5879F4-01C0-472C-B5D9-DD8C5A24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50958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让光学实验</a:t>
            </a:r>
          </a:p>
          <a:p xmlns:a="http://schemas.openxmlformats.org/drawingml/2006/main">
            <a:pPr>
              <a:buNone/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从一句需求开始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F7D487-F028-4A40-A0B8-ECEE15B9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5048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250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250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250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250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250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250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250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250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250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rPr>
              <a:t>面向光电入门者的</a:t>
            </a:r>
          </a:p>
          <a:p xmlns:a="http://schemas.openxmlformats.org/drawingml/2006/main">
            <a:pPr>
              <a:buNone/>
              <a:defRPr sz="2250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rPr>
              <a:t>连续实验工作台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ADA92A-D3AA-4030-80F0-A0F8CF62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523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00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00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00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00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00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00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00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00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00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rPr>
              <a:t>开源赋能的 AI 应用创新</a:t>
            </a:r>
          </a:p>
          <a:p xmlns:a="http://schemas.openxmlformats.org/drawingml/2006/main">
            <a:pPr>
              <a:buNone/>
              <a:defRPr sz="1800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rPr>
              <a:t>AIC-2026-26849458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DC034E-C993-4E07-957F-B2625CA425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b44b3037e34028"/>
          <a:stretch xmlns:a="http://schemas.openxmlformats.org/drawingml/2006/main"/>
        </p:blipFill>
        <p:spPr>
          <a:xfrm xmlns:a="http://schemas.openxmlformats.org/drawingml/2006/main">
            <a:off x="6238875" y="1860550"/>
            <a:ext cx="5257800" cy="3651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4409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26EF88-1D9D-4E2A-939C-1902AAE5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rPr>
              <a:t>已有工具各有所长，实验流程需要组织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FEAD1F-D4DE-4B99-AC6B-C689625F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7062D1-F9D3-4CC0-BF9D-87EFAEBDE7C0}"/>
              </a:ext>
            </a:extLst>
          </p:cNvPr>
          <p:cNvGraphicFramePr/>
          <p:nvPr/>
        </p:nvGraphicFramePr>
        <p:xfrm>
          <a:off xmlns:a="http://schemas.openxmlformats.org/drawingml/2006/main" x="685800" y="1571625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38250"/>
                <a:gridCol w="2190750"/>
                <a:gridCol w="2381250"/>
                <a:gridCol w="2428875"/>
                <a:gridCol w="2581275"/>
              </a:tblGrid>
              <a:tr h="571500"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维度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6E1"/>
                      </a:solidFill>
                      <a:prstDash val="solid"/>
                    </a:lnL>
                    <a:lnR w="5715">
                      <a:solidFill>
                        <a:srgbClr val="DCE6E1"/>
                      </a:solidFill>
                      <a:prstDash val="solid"/>
                    </a:lnR>
                    <a:lnT w="5715">
                      <a:solidFill>
                        <a:srgbClr val="DCE6E1"/>
                      </a:solidFill>
                      <a:prstDash val="solid"/>
                    </a:lnT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通用 AI 聊天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6E1"/>
                      </a:solidFill>
                      <a:prstDash val="solid"/>
                    </a:lnR>
                    <a:lnT w="5715">
                      <a:solidFill>
                        <a:srgbClr val="DCE6E1"/>
                      </a:solidFill>
                      <a:prstDash val="solid"/>
                    </a:lnT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专业光学软件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6E1"/>
                      </a:solidFill>
                      <a:prstDash val="solid"/>
                    </a:lnR>
                    <a:lnT w="5715">
                      <a:solidFill>
                        <a:srgbClr val="DCE6E1"/>
                      </a:solidFill>
                      <a:prstDash val="solid"/>
                    </a:lnT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通用工具 Agent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6E1"/>
                      </a:solidFill>
                      <a:prstDash val="solid"/>
                    </a:lnR>
                    <a:lnT w="5715">
                      <a:solidFill>
                        <a:srgbClr val="DCE6E1"/>
                      </a:solidFill>
                      <a:prstDash val="solid"/>
                    </a:lnT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PhotonGuard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6E1"/>
                      </a:solidFill>
                      <a:prstDash val="solid"/>
                    </a:lnR>
                    <a:lnT w="5715">
                      <a:solidFill>
                        <a:srgbClr val="DCE6E1"/>
                      </a:solidFill>
                      <a:prstDash val="solid"/>
                    </a:lnT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EFF5F3"/>
                    </a:solidFill>
                  </a:tcPr>
                </a:tc>
              </a:tr>
              <a:tr h="571500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语言输入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6E1"/>
                      </a:solidFill>
                      <a:prstDash val="solid"/>
                    </a:lnL>
                    <a:lnR w="5715">
                      <a:solidFill>
                        <a:srgbClr val="DCE6E1"/>
                      </a:solidFill>
                      <a:prstDash val="solid"/>
                    </a:lnR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问答与任务描述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6E1"/>
                      </a:solidFill>
                      <a:prstDash val="solid"/>
                    </a:lnR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参数与模型配置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6E1"/>
                      </a:solidFill>
                      <a:prstDash val="solid"/>
                    </a:lnR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语言任务 + 工具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6E1"/>
                      </a:solidFill>
                      <a:prstDash val="solid"/>
                    </a:lnR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目标整理与缺项核对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6E1"/>
                      </a:solidFill>
                      <a:prstDash val="solid"/>
                    </a:lnR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数值结果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6E1"/>
                      </a:solidFill>
                      <a:prstDash val="solid"/>
                    </a:lnL>
                    <a:lnR w="5715">
                      <a:solidFill>
                        <a:srgbClr val="DCE6E1"/>
                      </a:solidFill>
                      <a:prstDash val="solid"/>
                    </a:lnR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接入代码或工具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6E1"/>
                      </a:solidFill>
                      <a:prstDash val="solid"/>
                    </a:lnR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专业求解与分析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6E1"/>
                      </a:solidFill>
                      <a:prstDash val="solid"/>
                    </a:lnR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调用所接入工具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6E1"/>
                      </a:solidFill>
                      <a:prstDash val="solid"/>
                    </a:lnR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tmm / NumPy / SciPy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6E1"/>
                      </a:solidFill>
                      <a:prstDash val="solid"/>
                    </a:lnR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连续状态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6E1"/>
                      </a:solidFill>
                      <a:prstDash val="solid"/>
                    </a:lnL>
                    <a:lnR w="5715">
                      <a:solidFill>
                        <a:srgbClr val="DCE6E1"/>
                      </a:solidFill>
                      <a:prstDash val="solid"/>
                    </a:lnR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对话与附件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6E1"/>
                      </a:solidFill>
                      <a:prstDash val="solid"/>
                    </a:lnR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工程文件与参数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6E1"/>
                      </a:solidFill>
                      <a:prstDash val="solid"/>
                    </a:lnR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可配置状态与记忆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6E1"/>
                      </a:solidFill>
                      <a:prstDash val="solid"/>
                    </a:lnR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条件、计划、版本共存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6E1"/>
                      </a:solidFill>
                      <a:prstDash val="solid"/>
                    </a:lnR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执行约束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6E1"/>
                      </a:solidFill>
                      <a:prstDash val="solid"/>
                    </a:lnL>
                    <a:lnR w="5715">
                      <a:solidFill>
                        <a:srgbClr val="DCE6E1"/>
                      </a:solidFill>
                      <a:prstDash val="solid"/>
                    </a:lnR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按工具能力配置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6E1"/>
                      </a:solidFill>
                      <a:prstDash val="solid"/>
                    </a:lnR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按工程设置运行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6E1"/>
                      </a:solidFill>
                      <a:prstDash val="solid"/>
                    </a:lnR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可配置审批与约束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6E1"/>
                      </a:solidFill>
                      <a:prstDash val="solid"/>
                    </a:lnR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核对来源、约束与批准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6E1"/>
                      </a:solidFill>
                      <a:prstDash val="solid"/>
                    </a:lnR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复现成果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6E1"/>
                      </a:solidFill>
                      <a:prstDash val="solid"/>
                    </a:lnL>
                    <a:lnR w="5715">
                      <a:solidFill>
                        <a:srgbClr val="DCE6E1"/>
                      </a:solidFill>
                      <a:prstDash val="solid"/>
                    </a:lnR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代码或对话导出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6E1"/>
                      </a:solidFill>
                      <a:prstDash val="solid"/>
                    </a:lnR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工程与结果导出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6E1"/>
                      </a:solidFill>
                      <a:prstDash val="solid"/>
                    </a:lnR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按应用配置交付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6E1"/>
                      </a:solidFill>
                      <a:prstDash val="solid"/>
                    </a:lnR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数据、计划与结果同存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6E1"/>
                      </a:solidFill>
                      <a:prstDash val="solid"/>
                    </a:lnR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A3205-A20B-4003-A43E-A3C03FB3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rPr>
              <a:t>典型使用方式的定性比较；工具 Agent 可通过配置实现类似流程。</a:t>
            </a:r>
          </a:p>
          <a:p xmlns:a="http://schemas.openxmlformats.org/drawingml/2006/main">
            <a:pPr>
              <a:defRPr sz="1875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rPr>
              <a:t>PhotonGuard 将三类光学任务和连续实验记录预先组织，方便入门者直接使用。</a:t>
            </a:r>
          </a:p>
        </p:txBody>
      </p:sp>
    </p:spTree>
    <p:extLst>
      <p:ext uri="{BB962C8B-B14F-4D97-AF65-F5344CB8AC3E}">
        <p14:creationId xmlns:p14="http://schemas.microsoft.com/office/powerpoint/2010/main" val="6884573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67FC06-75A0-4A7B-9FF4-CE649A20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rPr>
              <a:t>AI 与开源计算怎样形成连续实验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B1559F-90D2-4E37-9477-939AB6EB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26D9C9-86AC-430D-B030-1816EAC8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9288"/>
            <a:ext cx="2750949" cy="1283776"/>
          </a:xfrm>
          <a:prstGeom xmlns:a="http://schemas.openxmlformats.org/drawingml/2006/main" prst="roundRect">
            <a:avLst>
              <a:gd name="adj" fmla="val 5936"/>
            </a:avLst>
          </a:prstGeom>
          <a:solidFill xmlns:a="http://schemas.openxmlformats.org/drawingml/2006/main">
            <a:srgbClr val="F1F5F3"/>
          </a:solidFill>
          <a:ln xmlns:a="http://schemas.openxmlformats.org/drawingml/2006/main" w="22925">
            <a:solidFill>
              <a:srgbClr val="143C3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51BE2B-2826-4C2B-81C3-E8309711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197" y="1876005"/>
            <a:ext cx="2430005" cy="320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rPr>
              <a:t>用户目标 / CSV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79B773-5955-4C20-878F-57C04312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197" y="2251968"/>
            <a:ext cx="2430005" cy="6877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rPr>
              <a:t>自然语言描述需求</a:t>
            </a:r>
          </a:p>
          <a:p xmlns:a="http://schemas.openxmlformats.org/drawingml/2006/main">
            <a: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rPr>
              <a:t>导入观测或选择教学案例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E0EA64-B8CC-4973-AA2D-066A6B9B0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431" y="1729288"/>
            <a:ext cx="3117742" cy="1283776"/>
          </a:xfrm>
          <a:prstGeom xmlns:a="http://schemas.openxmlformats.org/drawingml/2006/main" prst="roundRect">
            <a:avLst>
              <a:gd name="adj" fmla="val 5936"/>
            </a:avLst>
          </a:prstGeom>
          <a:solidFill xmlns:a="http://schemas.openxmlformats.org/drawingml/2006/main">
            <a:srgbClr val="F1F5F3"/>
          </a:solidFill>
          <a:ln xmlns:a="http://schemas.openxmlformats.org/drawingml/2006/main" w="22925">
            <a:solidFill>
              <a:srgbClr val="143C3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7D7F36-E119-4A2A-B936-AAA7EE38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8827" y="1876005"/>
            <a:ext cx="2796798" cy="320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rPr>
              <a:t>AI 理解与建议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F69CED-6FDA-477C-9D03-46FADEFC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8827" y="2251968"/>
            <a:ext cx="2796798" cy="6877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rPr>
              <a:t>条件整理 · 修改理解</a:t>
            </a:r>
          </a:p>
          <a:p xmlns:a="http://schemas.openxmlformats.org/drawingml/2006/main">
            <a: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rPr>
              <a:t>补测建议 · 结果解释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7FCCAB-12E4-44CC-8220-76853C4F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854" y="1729288"/>
            <a:ext cx="2934346" cy="1283776"/>
          </a:xfrm>
          <a:prstGeom xmlns:a="http://schemas.openxmlformats.org/drawingml/2006/main" prst="roundRect">
            <a:avLst>
              <a:gd name="adj" fmla="val 5936"/>
            </a:avLst>
          </a:prstGeom>
          <a:solidFill xmlns:a="http://schemas.openxmlformats.org/drawingml/2006/main">
            <a:srgbClr val="B8EE70"/>
          </a:solidFill>
          <a:ln xmlns:a="http://schemas.openxmlformats.org/drawingml/2006/main" w="22925">
            <a:solidFill>
              <a:srgbClr val="143C3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A0302D-6F5C-4DA6-BC79-ED068F7F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5251" y="1876005"/>
            <a:ext cx="2613402" cy="320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rPr>
              <a:t>PhotonGuard 自主流程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D395A0-FFB6-4161-802D-3CE7BA68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5251" y="2251968"/>
            <a:ext cx="2613402" cy="6877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rPr>
              <a:t>来源核对 · 条件约束</a:t>
            </a:r>
          </a:p>
          <a:p xmlns:a="http://schemas.openxmlformats.org/drawingml/2006/main">
            <a: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rPr>
              <a:t>计划绑定 · 版本管理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B3E29C-F7D9-44D0-A06A-86F8DBD6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854" y="4003406"/>
            <a:ext cx="2934346" cy="1283776"/>
          </a:xfrm>
          <a:prstGeom xmlns:a="http://schemas.openxmlformats.org/drawingml/2006/main" prst="roundRect">
            <a:avLst>
              <a:gd name="adj" fmla="val 5936"/>
            </a:avLst>
          </a:prstGeom>
          <a:solidFill xmlns:a="http://schemas.openxmlformats.org/drawingml/2006/main">
            <a:srgbClr val="F1F5F3"/>
          </a:solidFill>
          <a:ln xmlns:a="http://schemas.openxmlformats.org/drawingml/2006/main" w="22925">
            <a:solidFill>
              <a:srgbClr val="143C3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3719C7-149D-44AE-8186-A0E5DA7B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5251" y="4150123"/>
            <a:ext cx="2613402" cy="320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rPr>
              <a:t>用户确认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512931-AFA9-4304-9347-2CDCF6A2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5251" y="4526086"/>
            <a:ext cx="2613402" cy="6877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rPr>
              <a:t>核对条件、计划和资源</a:t>
            </a:r>
          </a:p>
          <a:p xmlns:a="http://schemas.openxmlformats.org/drawingml/2006/main">
            <a: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rPr>
              <a:t>批准后进入实际执行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AC11C5-C9AC-4195-9AC5-AF90559C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431" y="4003406"/>
            <a:ext cx="3117742" cy="1283776"/>
          </a:xfrm>
          <a:prstGeom xmlns:a="http://schemas.openxmlformats.org/drawingml/2006/main" prst="roundRect">
            <a:avLst>
              <a:gd name="adj" fmla="val 5936"/>
            </a:avLst>
          </a:prstGeom>
          <a:solidFill xmlns:a="http://schemas.openxmlformats.org/drawingml/2006/main">
            <a:srgbClr val="F1F5F3"/>
          </a:solidFill>
          <a:ln xmlns:a="http://schemas.openxmlformats.org/drawingml/2006/main" w="22925">
            <a:solidFill>
              <a:srgbClr val="143C3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216ACF-826E-4F32-AB5C-6811C4D5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8827" y="4150123"/>
            <a:ext cx="2796798" cy="320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rPr>
              <a:t>开源数值计算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84BB86-093D-4D90-B221-B63FDA41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8827" y="4526086"/>
            <a:ext cx="2796798" cy="6877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rPr>
              <a:t>tmm · NumPy · SciPy</a:t>
            </a:r>
          </a:p>
          <a:p xmlns:a="http://schemas.openxmlformats.org/drawingml/2006/main">
            <a: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rPr>
              <a:t>反射率 · 光斑 · 参数拟合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0675F9-ADB3-4506-AF9C-946058A6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3406"/>
            <a:ext cx="2750949" cy="1283776"/>
          </a:xfrm>
          <a:prstGeom xmlns:a="http://schemas.openxmlformats.org/drawingml/2006/main" prst="roundRect">
            <a:avLst>
              <a:gd name="adj" fmla="val 5936"/>
            </a:avLst>
          </a:prstGeom>
          <a:solidFill xmlns:a="http://schemas.openxmlformats.org/drawingml/2006/main">
            <a:srgbClr val="F1F5F3"/>
          </a:solidFill>
          <a:ln xmlns:a="http://schemas.openxmlformats.org/drawingml/2006/main" w="22925">
            <a:solidFill>
              <a:srgbClr val="143C3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91FAA4-AB18-4AFC-82DB-08F7515F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197" y="4150123"/>
            <a:ext cx="2430005" cy="320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rPr>
              <a:t>结果与下一轮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5D0A2A-8238-40AD-AE5E-31774B30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197" y="4526086"/>
            <a:ext cx="2430005" cy="6877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rPr>
              <a:t>图表 · 候选 · 复现资料</a:t>
            </a:r>
          </a:p>
          <a:p xmlns:a="http://schemas.openxmlformats.org/drawingml/2006/main">
            <a: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rPr>
              <a:t>保存条件与历史结果</a:t>
            </a:r>
          </a:p>
        </p:txBody>
      </p: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5044B3-EED6-4190-9457-A7A516F94ABA}"/>
              </a:ext>
            </a:extLst>
          </p:cNvPr>
          <p:cNvCxnSpPr/>
          <p:nvPr/>
        </p:nvCxnSpPr>
        <p:spPr>
          <a:xfrm xmlns:a="http://schemas.openxmlformats.org/drawingml/2006/main">
            <a:off x="3546787" y="2371176"/>
            <a:ext cx="779436" cy="0"/>
          </a:xfrm>
          <a:prstGeom xmlns:a="http://schemas.openxmlformats.org/drawingml/2006/main" prst="straightConnector1">
            <a:avLst/>
          </a:prstGeom>
          <a:ln xmlns:a="http://schemas.openxmlformats.org/drawingml/2006/main" w="27509">
            <a:solidFill>
              <a:srgbClr val="143C37"/>
            </a:solidFill>
            <a:tailEnd type="triangle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086DAE-ECE2-410E-A4C9-6047BCCEBAA6}"/>
              </a:ext>
            </a:extLst>
          </p:cNvPr>
          <p:cNvCxnSpPr/>
          <p:nvPr/>
        </p:nvCxnSpPr>
        <p:spPr>
          <a:xfrm xmlns:a="http://schemas.openxmlformats.org/drawingml/2006/main">
            <a:off x="7673211" y="2371176"/>
            <a:ext cx="779436" cy="0"/>
          </a:xfrm>
          <a:prstGeom xmlns:a="http://schemas.openxmlformats.org/drawingml/2006/main" prst="straightConnector1">
            <a:avLst/>
          </a:prstGeom>
          <a:ln xmlns:a="http://schemas.openxmlformats.org/drawingml/2006/main" w="27509">
            <a:solidFill>
              <a:srgbClr val="143C37"/>
            </a:solidFill>
            <a:tailEnd type="triangle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AAA267-1CEF-471C-B0BE-D70794C220FE}"/>
              </a:ext>
            </a:extLst>
          </p:cNvPr>
          <p:cNvCxnSpPr/>
          <p:nvPr/>
        </p:nvCxnSpPr>
        <p:spPr>
          <a:xfrm xmlns:a="http://schemas.openxmlformats.org/drawingml/2006/main">
            <a:off x="10039027" y="3141442"/>
            <a:ext cx="0" cy="724417"/>
          </a:xfrm>
          <a:prstGeom xmlns:a="http://schemas.openxmlformats.org/drawingml/2006/main" prst="straightConnector1">
            <a:avLst/>
          </a:prstGeom>
          <a:ln xmlns:a="http://schemas.openxmlformats.org/drawingml/2006/main" w="27509">
            <a:solidFill>
              <a:srgbClr val="143C37"/>
            </a:solidFill>
            <a:tailEnd type="triangle" w="med" len="me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760C6E-3122-45C9-B3E8-17D7213ED284}"/>
              </a:ext>
            </a:extLst>
          </p:cNvPr>
          <p:cNvCxnSpPr/>
          <p:nvPr/>
        </p:nvCxnSpPr>
        <p:spPr>
          <a:xfrm xmlns:a="http://schemas.openxmlformats.org/drawingml/2006/main">
            <a:off x="7673211" y="4645294"/>
            <a:ext cx="779436" cy="0"/>
          </a:xfrm>
          <a:prstGeom xmlns:a="http://schemas.openxmlformats.org/drawingml/2006/main" prst="straightConnector1">
            <a:avLst/>
          </a:prstGeom>
          <a:ln xmlns:a="http://schemas.openxmlformats.org/drawingml/2006/main" w="27509">
            <a:solidFill>
              <a:srgbClr val="143C37"/>
            </a:solidFill>
            <a:headEnd type="triangle" w="med" len="me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ABDFA2-F874-4CB3-8525-F00B0B771EAC}"/>
              </a:ext>
            </a:extLst>
          </p:cNvPr>
          <p:cNvCxnSpPr/>
          <p:nvPr/>
        </p:nvCxnSpPr>
        <p:spPr>
          <a:xfrm xmlns:a="http://schemas.openxmlformats.org/drawingml/2006/main">
            <a:off x="3546787" y="4645294"/>
            <a:ext cx="779436" cy="0"/>
          </a:xfrm>
          <a:prstGeom xmlns:a="http://schemas.openxmlformats.org/drawingml/2006/main" prst="straightConnector1">
            <a:avLst/>
          </a:prstGeom>
          <a:ln xmlns:a="http://schemas.openxmlformats.org/drawingml/2006/main" w="27509">
            <a:solidFill>
              <a:srgbClr val="143C37"/>
            </a:solidFill>
            <a:headEnd type="triangle" w="med" len="med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7D5F4D-8CA3-4B8D-BBBE-EBDA46C86EC2}"/>
              </a:ext>
            </a:extLst>
          </p:cNvPr>
          <p:cNvCxnSpPr/>
          <p:nvPr/>
        </p:nvCxnSpPr>
        <p:spPr>
          <a:xfrm xmlns:a="http://schemas.openxmlformats.org/drawingml/2006/main">
            <a:off x="2061275" y="3141442"/>
            <a:ext cx="0" cy="724417"/>
          </a:xfrm>
          <a:prstGeom xmlns:a="http://schemas.openxmlformats.org/drawingml/2006/main" prst="straightConnector1">
            <a:avLst/>
          </a:prstGeom>
          <a:ln xmlns:a="http://schemas.openxmlformats.org/drawingml/2006/main" w="27509">
            <a:solidFill>
              <a:srgbClr val="143C37"/>
            </a:solidFill>
            <a:headEnd type="triangle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F2B340-23E7-44C9-8083-45EFCC59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2219" y="3334008"/>
            <a:ext cx="2384156" cy="293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88" b="0">
                <a:solidFill>
                  <a:srgbClr val="247E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88" b="0">
                <a:solidFill>
                  <a:srgbClr val="247E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88" b="0">
                <a:solidFill>
                  <a:srgbClr val="247E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88" b="0">
                <a:solidFill>
                  <a:srgbClr val="247E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88" b="0">
                <a:solidFill>
                  <a:srgbClr val="247E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88" b="0">
                <a:solidFill>
                  <a:srgbClr val="247E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88" b="0">
                <a:solidFill>
                  <a:srgbClr val="247E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88" b="0">
                <a:solidFill>
                  <a:srgbClr val="247E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88" b="0">
                <a:solidFill>
                  <a:srgbClr val="247E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88" b="0">
                <a:solidFill>
                  <a:srgbClr val="247E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88" b="0">
                <a:solidFill>
                  <a:srgbClr val="24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88" b="0">
                <a:solidFill>
                  <a:srgbClr val="247E78"/>
                </a:solidFill>
                <a:latin typeface="Microsoft YaHei"/>
                <a:ea typeface="Microsoft YaHei"/>
                <a:cs typeface="Microsoft YaHei"/>
              </a:rPr>
              <a:t>继续修改与观测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30ACB1-3A29-48E5-A41B-70ED3015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rPr>
              <a:t>自主工作集中在条件来源、执行接续与跨轮版本管理。</a:t>
            </a:r>
          </a:p>
        </p:txBody>
      </p:sp>
    </p:spTree>
    <p:extLst>
      <p:ext uri="{BB962C8B-B14F-4D97-AF65-F5344CB8AC3E}">
        <p14:creationId xmlns:p14="http://schemas.microsoft.com/office/powerpoint/2010/main" val="389071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43C5B7-9C7F-4880-BF56-3BE48228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rPr>
              <a:t>三类实验，共用连续任务流程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4CB6DC-8141-4AEE-A162-1CF4CDF8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D4D092-B1B7-4E8A-9FE8-0AE556023B6C}"/>
              </a:ext>
            </a:extLst>
          </p:cNvPr>
          <p:cNvGraphicFramePr/>
          <p:nvPr/>
        </p:nvGraphicFramePr>
        <p:xfrm>
          <a:off xmlns:a="http://schemas.openxmlformats.org/drawingml/2006/main" x="685800" y="1676400"/>
          <a:ext xmlns:a="http://schemas.openxmlformats.org/drawingml/2006/main" cx="108204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4695825"/>
                <a:gridCol w="4695825"/>
              </a:tblGrid>
              <a:tr h="833438"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场景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6E1"/>
                      </a:solidFill>
                      <a:prstDash val="solid"/>
                    </a:lnL>
                    <a:lnR w="5715">
                      <a:solidFill>
                        <a:srgbClr val="DCE6E1"/>
                      </a:solidFill>
                      <a:prstDash val="solid"/>
                    </a:lnR>
                    <a:lnT w="5715">
                      <a:solidFill>
                        <a:srgbClr val="DCE6E1"/>
                      </a:solidFill>
                      <a:prstDash val="solid"/>
                    </a:lnT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正向计算：给条件看结果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6E1"/>
                      </a:solidFill>
                      <a:prstDash val="solid"/>
                    </a:lnR>
                    <a:lnT w="5715">
                      <a:solidFill>
                        <a:srgbClr val="DCE6E1"/>
                      </a:solidFill>
                      <a:prstDash val="solid"/>
                    </a:lnT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反向分析：从数据估参数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6E1"/>
                      </a:solidFill>
                      <a:prstDash val="solid"/>
                    </a:lnR>
                    <a:lnT w="5715">
                      <a:solidFill>
                        <a:srgbClr val="DCE6E1"/>
                      </a:solidFill>
                      <a:prstDash val="solid"/>
                    </a:lnT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EFF5F3"/>
                    </a:solidFill>
                  </a:tcPr>
                </a:tc>
              </a:tr>
              <a:tr h="833438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薄膜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6E1"/>
                      </a:solidFill>
                      <a:prstDash val="solid"/>
                    </a:lnL>
                    <a:lnR w="5715">
                      <a:solidFill>
                        <a:srgbClr val="DCE6E1"/>
                      </a:solidFill>
                      <a:prstDash val="solid"/>
                    </a:lnR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膜层与波长 → 反射 / 透射率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6E1"/>
                      </a:solidFill>
                      <a:prstDash val="solid"/>
                    </a:lnR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校准反射率 + 已知折射率</a:t>
                      </a:r>
                    </a:p>
                    <a:p>
                      <a:r>
                        <a:rPr sz="1950" b="0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→ 有限膜厚候选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6E1"/>
                      </a:solidFill>
                      <a:prstDash val="solid"/>
                    </a:lnR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高斯光束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6E1"/>
                      </a:solidFill>
                      <a:prstDash val="solid"/>
                    </a:lnL>
                    <a:lnR w="5715">
                      <a:solidFill>
                        <a:srgbClr val="DCE6E1"/>
                      </a:solidFill>
                      <a:prstDash val="solid"/>
                    </a:lnR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光束与透镜 → 屏幕光斑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6E1"/>
                      </a:solidFill>
                      <a:prstDash val="solid"/>
                    </a:lnR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纵向半径数据 → 束腰参数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6E1"/>
                      </a:solidFill>
                      <a:prstDash val="solid"/>
                    </a:lnR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双缝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6E1"/>
                      </a:solidFill>
                      <a:prstDash val="solid"/>
                    </a:lnL>
                    <a:lnR w="5715">
                      <a:solidFill>
                        <a:srgbClr val="DCE6E1"/>
                      </a:solidFill>
                      <a:prstDash val="solid"/>
                    </a:lnR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几何与波长 → 强度和条纹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6E1"/>
                      </a:solidFill>
                      <a:prstDash val="solid"/>
                    </a:lnR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强度数据 → 受限几何参数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6E1"/>
                      </a:solidFill>
                      <a:prstDash val="solid"/>
                    </a:lnR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66F483-9516-43FF-87D7-549DD706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9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9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9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9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9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9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9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9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9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rPr>
              <a:t>支持导入自己的观测数据，也可从教学案例开始。</a:t>
            </a:r>
          </a:p>
        </p:txBody>
      </p:sp>
    </p:spTree>
    <p:extLst>
      <p:ext uri="{BB962C8B-B14F-4D97-AF65-F5344CB8AC3E}">
        <p14:creationId xmlns:p14="http://schemas.microsoft.com/office/powerpoint/2010/main" val="8618383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F5EFA6-01F4-473E-B899-048F4415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rPr>
              <a:t>自然语言如何成为可核对的计划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1368E9-2A8A-4F0A-9B55-503BA54F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2384D7-7581-4038-952B-50AF0251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5381625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2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2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2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2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2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2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2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2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2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rPr>
              <a:t>“目标 850 nm 反射率不低于 75%……</a:t>
            </a:r>
          </a:p>
          <a:p xmlns:a="http://schemas.openxmlformats.org/drawingml/2006/main">
            <a:pPr>
              <a:buNone/>
              <a:defRPr sz="22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rPr>
              <a:t>总层数 2、4、6、8……只做快速计算，</a:t>
            </a:r>
          </a:p>
          <a:p xmlns:a="http://schemas.openxmlformats.org/drawingml/2006/main">
            <a:pPr>
              <a:buNone/>
              <a:defRPr sz="22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rPr>
              <a:t>先出计划，等我确认才算。”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AB371C-7D26-47B8-B83D-F428DAFA227E}"/>
              </a:ext>
            </a:extLst>
          </p:cNvPr>
          <p:cNvGraphicFramePr/>
          <p:nvPr/>
        </p:nvGraphicFramePr>
        <p:xfrm>
          <a:off xmlns:a="http://schemas.openxmlformats.org/drawingml/2006/main" x="6572250" y="1552575"/>
          <a:ext xmlns:a="http://schemas.openxmlformats.org/drawingml/2006/main" cx="4933950" cy="3457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3505200"/>
              </a:tblGrid>
              <a:tr h="691515"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原文条件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6E1"/>
                      </a:solidFill>
                      <a:prstDash val="solid"/>
                    </a:lnL>
                    <a:lnR w="5715">
                      <a:solidFill>
                        <a:srgbClr val="DCE6E1"/>
                      </a:solidFill>
                      <a:prstDash val="solid"/>
                    </a:lnR>
                    <a:lnT w="5715">
                      <a:solidFill>
                        <a:srgbClr val="DCE6E1"/>
                      </a:solidFill>
                      <a:prstDash val="solid"/>
                    </a:lnT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保存的计划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6E1"/>
                      </a:solidFill>
                      <a:prstDash val="solid"/>
                    </a:lnR>
                    <a:lnT w="5715">
                      <a:solidFill>
                        <a:srgbClr val="DCE6E1"/>
                      </a:solidFill>
                      <a:prstDash val="solid"/>
                    </a:lnT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EFF5F3"/>
                    </a:solidFill>
                  </a:tcPr>
                </a:tc>
              </a:tr>
              <a:tr h="69151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折射率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6E1"/>
                      </a:solidFill>
                      <a:prstDash val="solid"/>
                    </a:lnL>
                    <a:lnR w="5715">
                      <a:solidFill>
                        <a:srgbClr val="DCE6E1"/>
                      </a:solidFill>
                      <a:prstDash val="solid"/>
                    </a:lnR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 2.2 / 低 1.46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6E1"/>
                      </a:solidFill>
                      <a:prstDash val="solid"/>
                    </a:lnR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151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设计波长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6E1"/>
                      </a:solidFill>
                      <a:prstDash val="solid"/>
                    </a:lnL>
                    <a:lnR w="5715">
                      <a:solidFill>
                        <a:srgbClr val="DCE6E1"/>
                      </a:solidFill>
                      <a:prstDash val="solid"/>
                    </a:lnR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850 nm；各层光学厚度 λ/4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6E1"/>
                      </a:solidFill>
                      <a:prstDash val="solid"/>
                    </a:lnR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151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实际采样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6E1"/>
                      </a:solidFill>
                      <a:prstDash val="solid"/>
                    </a:lnL>
                    <a:lnR w="5715">
                      <a:solidFill>
                        <a:srgbClr val="DCE6E1"/>
                      </a:solidFill>
                      <a:prstDash val="solid"/>
                    </a:lnR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700 / 850 / 950 nm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6E1"/>
                      </a:solidFill>
                      <a:prstDash val="solid"/>
                    </a:lnR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151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计算范围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6E1"/>
                      </a:solidFill>
                      <a:prstDash val="solid"/>
                    </a:lnL>
                    <a:lnR w="5715">
                      <a:solidFill>
                        <a:srgbClr val="DCE6E1"/>
                      </a:solidFill>
                      <a:prstDash val="solid"/>
                    </a:lnR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四个候选，仅快速计算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6E1"/>
                      </a:solidFill>
                      <a:prstDash val="solid"/>
                    </a:lnR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46C32D-6E54-43FA-B64D-AE686BA2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82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75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75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75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75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75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75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75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75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75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rPr>
              <a:t>各层光学厚度 n·d = λ/4；实际高、低层厚度为 96.59 nm、145.55 nm。</a:t>
            </a:r>
          </a:p>
        </p:txBody>
      </p:sp>
    </p:spTree>
    <p:extLst>
      <p:ext uri="{BB962C8B-B14F-4D97-AF65-F5344CB8AC3E}">
        <p14:creationId xmlns:p14="http://schemas.microsoft.com/office/powerpoint/2010/main" val="3719575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446AFC-D88F-48B7-86BC-40BA9012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rPr>
              <a:t>改变要求时，明确哪些条件保持不变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94E14D-1786-49E9-A058-7E900183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CCFE6D-B3D4-4B79-8855-7B3C9E8F0516}"/>
              </a:ext>
            </a:extLst>
          </p:cNvPr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4476750"/>
                <a:gridCol w="2819400"/>
              </a:tblGrid>
              <a:tr h="809625"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用户修改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6E1"/>
                      </a:solidFill>
                      <a:prstDash val="solid"/>
                    </a:lnL>
                    <a:lnR w="5715">
                      <a:solidFill>
                        <a:srgbClr val="DCE6E1"/>
                      </a:solidFill>
                      <a:prstDash val="solid"/>
                    </a:lnR>
                    <a:lnT w="5715">
                      <a:solidFill>
                        <a:srgbClr val="DCE6E1"/>
                      </a:solidFill>
                      <a:prstDash val="solid"/>
                    </a:lnT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系统处理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6E1"/>
                      </a:solidFill>
                      <a:prstDash val="solid"/>
                    </a:lnR>
                    <a:lnT w="5715">
                      <a:solidFill>
                        <a:srgbClr val="DCE6E1"/>
                      </a:solidFill>
                      <a:prstDash val="solid"/>
                    </a:lnT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原结果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6E1"/>
                      </a:solidFill>
                      <a:prstDash val="solid"/>
                    </a:lnR>
                    <a:lnT w="5715">
                      <a:solidFill>
                        <a:srgbClr val="DCE6E1"/>
                      </a:solidFill>
                      <a:prstDash val="solid"/>
                    </a:lnT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EFF5F3"/>
                    </a:solidFill>
                  </a:tcPr>
                </a:tc>
              </a:tr>
              <a:tr h="809625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只改目标，已有所需数据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6E1"/>
                      </a:solidFill>
                      <a:prstDash val="solid"/>
                    </a:lnL>
                    <a:lnR w="5715">
                      <a:solidFill>
                        <a:srgbClr val="DCE6E1"/>
                      </a:solidFill>
                      <a:prstDash val="solid"/>
                    </a:lnR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使用已保存数值重新判断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6E1"/>
                      </a:solidFill>
                      <a:prstDash val="solid"/>
                    </a:lnR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保留，另存新判定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6E1"/>
                      </a:solidFill>
                      <a:prstDash val="solid"/>
                    </a:lnR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改变物理参数或候选范围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6E1"/>
                      </a:solidFill>
                      <a:prstDash val="solid"/>
                    </a:lnL>
                    <a:lnR w="5715">
                      <a:solidFill>
                        <a:srgbClr val="DCE6E1"/>
                      </a:solidFill>
                      <a:prstDash val="solid"/>
                    </a:lnR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建立并核对新计算计划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6E1"/>
                      </a:solidFill>
                      <a:prstDash val="solid"/>
                    </a:lnR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保留，与新结果分开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6E1"/>
                      </a:solidFill>
                      <a:prstDash val="solid"/>
                    </a:lnR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需要未计算的采样位置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6E1"/>
                      </a:solidFill>
                      <a:prstDash val="solid"/>
                    </a:lnL>
                    <a:lnR w="5715">
                      <a:solidFill>
                        <a:srgbClr val="DCE6E1"/>
                      </a:solidFill>
                      <a:prstDash val="solid"/>
                    </a:lnR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列出新计划，等待确认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6E1"/>
                      </a:solidFill>
                      <a:prstDash val="solid"/>
                    </a:lnR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不以插值冒充实际求解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6E1"/>
                      </a:solidFill>
                      <a:prstDash val="solid"/>
                    </a:lnR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C3F1B2-F28E-479B-ADC5-DC8E1888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17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17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17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17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17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17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17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17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17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rPr>
              <a:t>价值在于识别修改范围，并保持条件、数据与版本对应。</a:t>
            </a:r>
          </a:p>
        </p:txBody>
      </p:sp>
    </p:spTree>
    <p:extLst>
      <p:ext uri="{BB962C8B-B14F-4D97-AF65-F5344CB8AC3E}">
        <p14:creationId xmlns:p14="http://schemas.microsoft.com/office/powerpoint/2010/main" val="16837198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46D8BD-1FE1-4005-9C47-0E59EBFD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rPr>
              <a:t>850 nm：8 层候选达到目标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0A699C-386A-402A-8EAC-075D4EEA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0ACAF7-AABE-41CA-AC02-C8811B55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19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5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5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5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5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5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5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5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5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5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rPr>
              <a:t>评价波长  850 nm</a:t>
            </a:r>
          </a:p>
          <a:p xmlns:a="http://schemas.openxmlformats.org/drawingml/2006/main">
            <a:pPr>
              <a:buNone/>
              <a:defRPr sz="25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rPr>
              <a:t>反射率目标  ≥ 75%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04C63E-EBA7-429B-A30C-533512AE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19100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100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100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100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100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100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100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100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100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100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rPr>
              <a:t>保持的物理条件</a:t>
            </a:r>
          </a:p>
          <a:p xmlns:a="http://schemas.openxmlformats.org/drawingml/2006/main">
            <a:pPr>
              <a:buNone/>
              <a:defRPr sz="187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rPr>
              <a:t>折射率 2.2 / 1.46</a:t>
            </a:r>
          </a:p>
          <a:p xmlns:a="http://schemas.openxmlformats.org/drawingml/2006/main">
            <a:pPr>
              <a:buNone/>
              <a:defRPr sz="187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rPr>
              <a:t>设计波长 850 nm</a:t>
            </a:r>
          </a:p>
          <a:p xmlns:a="http://schemas.openxmlformats.org/drawingml/2006/main">
            <a:pPr>
              <a:buNone/>
              <a:defRPr sz="187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rPr>
              <a:t>光学厚度 n·d = λ/4</a:t>
            </a:r>
          </a:p>
          <a:p xmlns:a="http://schemas.openxmlformats.org/drawingml/2006/main">
            <a:pPr>
              <a:buNone/>
              <a:defRPr sz="187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rPr>
              <a:t>实际层厚 96.59 / 145.55 nm</a:t>
            </a:r>
          </a:p>
          <a:p xmlns:a="http://schemas.openxmlformats.org/drawingml/2006/main">
            <a:pPr>
              <a:buNone/>
              <a:defRPr sz="187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rPr>
              <a:t>层数 2 / 4 / 6 /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72DD30-95CB-41F5-9C12-A0BEF3B2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2573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725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725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725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725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725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725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725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725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725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rPr>
              <a:t>反射率（%）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AE2E5116-D7C1-4782-A002-9DCFA1EF8BC6}"/>
              </a:ext>
            </a:extLst>
          </p:cNvPr>
          <p:cNvGraphicFramePr/>
          <p:nvPr/>
        </p:nvGraphicFramePr>
        <p:xfrm>
          <a:off xmlns:a="http://schemas.openxmlformats.org/drawingml/2006/main" x="5143500" y="1552575"/>
          <a:ext xmlns:a="http://schemas.openxmlformats.org/drawingml/2006/main" cx="6381750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c5b1957a62c4721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F4C6F9-D485-4D5A-B3F7-ADFCBCC7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9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9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9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9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9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9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9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9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9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rPr>
              <a:t>数值来自 tmm 的实际采样；首次计算四个候选。</a:t>
            </a:r>
          </a:p>
        </p:txBody>
      </p: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F05E80-8793-442B-96CB-AB435CC06376}"/>
              </a:ext>
            </a:extLst>
          </p:cNvPr>
          <p:cNvCxnSpPr/>
          <p:nvPr/>
        </p:nvCxnSpPr>
        <p:spPr>
          <a:xfrm xmlns:a="http://schemas.openxmlformats.org/drawingml/2006/main">
            <a:off x="5800725" y="2431256"/>
            <a:ext cx="5581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6A22"/>
            </a:solidFill>
            <a:prstDash val="dash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476140-9924-47DB-A171-CC5E99B9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105025"/>
            <a:ext cx="1714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1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1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1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1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1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1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1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1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1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rPr>
              <a:t>目标 75%</a:t>
            </a:r>
          </a:p>
        </p:txBody>
      </p:sp>
    </p:spTree>
    <p:extLst>
      <p:ext uri="{BB962C8B-B14F-4D97-AF65-F5344CB8AC3E}">
        <p14:creationId xmlns:p14="http://schemas.microsoft.com/office/powerpoint/2010/main" val="5003783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022E59-A0F9-4331-AD83-AA847A38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rPr>
              <a:t>700 nm：已有四个候选均未达标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31F36B-CDED-4178-B1D6-0FFDBBAC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95D9D0-64AF-461A-9B6C-2727C31D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19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5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5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5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5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5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5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5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5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5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rPr>
              <a:t>评价波长  700 nm</a:t>
            </a:r>
          </a:p>
          <a:p xmlns:a="http://schemas.openxmlformats.org/drawingml/2006/main">
            <a:pPr>
              <a:buNone/>
              <a:defRPr sz="25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rPr>
              <a:t>反射率目标  ≥ 75%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6A94BD-3059-4643-999A-DA9B2A67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19100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100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100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100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100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100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100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100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100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100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rPr>
              <a:t>保持的物理条件</a:t>
            </a:r>
          </a:p>
          <a:p xmlns:a="http://schemas.openxmlformats.org/drawingml/2006/main">
            <a:pPr>
              <a:buNone/>
              <a:defRPr sz="187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rPr>
              <a:t>折射率 2.2 / 1.46</a:t>
            </a:r>
          </a:p>
          <a:p xmlns:a="http://schemas.openxmlformats.org/drawingml/2006/main">
            <a:pPr>
              <a:buNone/>
              <a:defRPr sz="187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rPr>
              <a:t>设计波长 850 nm</a:t>
            </a:r>
          </a:p>
          <a:p xmlns:a="http://schemas.openxmlformats.org/drawingml/2006/main">
            <a:pPr>
              <a:buNone/>
              <a:defRPr sz="187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rPr>
              <a:t>光学厚度 n·d = λ/4</a:t>
            </a:r>
          </a:p>
          <a:p xmlns:a="http://schemas.openxmlformats.org/drawingml/2006/main">
            <a:pPr>
              <a:buNone/>
              <a:defRPr sz="187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rPr>
              <a:t>实际层厚 96.59 / 145.55 nm</a:t>
            </a:r>
          </a:p>
          <a:p xmlns:a="http://schemas.openxmlformats.org/drawingml/2006/main">
            <a:pPr>
              <a:buNone/>
              <a:defRPr sz="187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rPr>
              <a:t>层数 2 / 4 / 6 /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AE4486-C929-4D20-90EA-F6597A5F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2573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725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725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725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725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725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725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725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725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725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rPr>
              <a:t>反射率（%）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743A6142-E725-4E20-9846-D0569F2271EF}"/>
              </a:ext>
            </a:extLst>
          </p:cNvPr>
          <p:cNvGraphicFramePr/>
          <p:nvPr/>
        </p:nvGraphicFramePr>
        <p:xfrm>
          <a:off xmlns:a="http://schemas.openxmlformats.org/drawingml/2006/main" x="5143500" y="1552575"/>
          <a:ext xmlns:a="http://schemas.openxmlformats.org/drawingml/2006/main" cx="6381750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849d7ee14c64ccf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733F1F-624E-45DE-B3F3-0407BA0F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9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9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9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9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9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9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9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9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9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rPr>
              <a:t>700 nm 是原始实算点；直接读取原数值，未插值、未新增求解。</a:t>
            </a:r>
          </a:p>
        </p:txBody>
      </p: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CA1968-3101-4C99-B827-8B64B7E53F05}"/>
              </a:ext>
            </a:extLst>
          </p:cNvPr>
          <p:cNvCxnSpPr/>
          <p:nvPr/>
        </p:nvCxnSpPr>
        <p:spPr>
          <a:xfrm xmlns:a="http://schemas.openxmlformats.org/drawingml/2006/main">
            <a:off x="5800725" y="2431256"/>
            <a:ext cx="5581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6A22"/>
            </a:solidFill>
            <a:prstDash val="dash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1371D4-0469-4E4B-B91E-EDD213FC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105025"/>
            <a:ext cx="1714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1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1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1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1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1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1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1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1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1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rPr>
              <a:t>目标 75%</a:t>
            </a:r>
          </a:p>
        </p:txBody>
      </p:sp>
    </p:spTree>
    <p:extLst>
      <p:ext uri="{BB962C8B-B14F-4D97-AF65-F5344CB8AC3E}">
        <p14:creationId xmlns:p14="http://schemas.microsoft.com/office/powerpoint/2010/main" val="17322268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CF69F9-A883-4C81-B17E-25C02137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rPr>
              <a:t>AI 安排补测：膜厚候选由 12 组收窄至 1 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019843-B945-440D-A88B-F6D94275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A3E90E-3884-46FF-BA5B-28963615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7363"/>
            <a:ext cx="2292458" cy="1329625"/>
          </a:xfrm>
          <a:prstGeom xmlns:a="http://schemas.openxmlformats.org/drawingml/2006/main" prst="roundRect">
            <a:avLst>
              <a:gd name="adj" fmla="val 5731"/>
            </a:avLst>
          </a:prstGeom>
          <a:solidFill xmlns:a="http://schemas.openxmlformats.org/drawingml/2006/main">
            <a:srgbClr val="F1F5F3"/>
          </a:solidFill>
          <a:ln xmlns:a="http://schemas.openxmlformats.org/drawingml/2006/main" w="22925">
            <a:solidFill>
              <a:srgbClr val="143C3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9BDE46-42A4-4652-8CE1-E4099592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197" y="1714080"/>
            <a:ext cx="1971514" cy="320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rPr>
              <a:t>633 nm 初始分析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A63D11-DFD6-492F-B1B1-B66DFFBB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197" y="2090043"/>
            <a:ext cx="1971514" cy="6877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rPr>
              <a:t>12 组膜厚候选</a:t>
            </a:r>
          </a:p>
          <a:p xmlns:a="http://schemas.openxmlformats.org/drawingml/2006/main">
            <a: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rPr>
              <a:t>校准反射率；n =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CD2D51-F71B-4807-8BE4-D58F296C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8447" y="1567363"/>
            <a:ext cx="2292458" cy="1329625"/>
          </a:xfrm>
          <a:prstGeom xmlns:a="http://schemas.openxmlformats.org/drawingml/2006/main" prst="roundRect">
            <a:avLst>
              <a:gd name="adj" fmla="val 5731"/>
            </a:avLst>
          </a:prstGeom>
          <a:solidFill xmlns:a="http://schemas.openxmlformats.org/drawingml/2006/main">
            <a:srgbClr val="B8EE70"/>
          </a:solidFill>
          <a:ln xmlns:a="http://schemas.openxmlformats.org/drawingml/2006/main" w="22925">
            <a:solidFill>
              <a:srgbClr val="143C3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80C1DE-5A42-4CC5-A4E3-B43475F8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1844" y="1714080"/>
            <a:ext cx="1971514" cy="320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rPr>
              <a:t>AI 选择 850 nm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0B0AFB-44B1-4BB5-A977-F522DC21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1844" y="2090043"/>
            <a:ext cx="1971514" cy="6877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rPr>
              <a:t>比较允许波长处的</a:t>
            </a:r>
          </a:p>
          <a:p xmlns:a="http://schemas.openxmlformats.org/drawingml/2006/main">
            <a: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rPr>
              <a:t>候选预测分歧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B60234-7FE6-43E2-9182-D4B78286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1095" y="1567363"/>
            <a:ext cx="2292458" cy="1329625"/>
          </a:xfrm>
          <a:prstGeom xmlns:a="http://schemas.openxmlformats.org/drawingml/2006/main" prst="roundRect">
            <a:avLst>
              <a:gd name="adj" fmla="val 5731"/>
            </a:avLst>
          </a:prstGeom>
          <a:solidFill xmlns:a="http://schemas.openxmlformats.org/drawingml/2006/main">
            <a:srgbClr val="F1F5F3"/>
          </a:solidFill>
          <a:ln xmlns:a="http://schemas.openxmlformats.org/drawingml/2006/main" w="22925">
            <a:solidFill>
              <a:srgbClr val="143C3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23E140-862C-4B69-850F-552AD5EF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4492" y="1714080"/>
            <a:ext cx="1971514" cy="320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rPr>
              <a:t>确认后教学补采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9A0F59-15BB-4D81-8714-4F1FA1E1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4492" y="2090043"/>
            <a:ext cx="1971514" cy="6877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rPr>
              <a:t>与原 633 nm 数据</a:t>
            </a:r>
          </a:p>
          <a:p xmlns:a="http://schemas.openxmlformats.org/drawingml/2006/main">
            <a: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rPr>
              <a:t>一起联合分析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AFB9E5-4829-44A7-8D03-8A822B98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3742" y="1567363"/>
            <a:ext cx="2292458" cy="1329625"/>
          </a:xfrm>
          <a:prstGeom xmlns:a="http://schemas.openxmlformats.org/drawingml/2006/main" prst="roundRect">
            <a:avLst>
              <a:gd name="adj" fmla="val 5731"/>
            </a:avLst>
          </a:prstGeom>
          <a:solidFill xmlns:a="http://schemas.openxmlformats.org/drawingml/2006/main">
            <a:srgbClr val="F1F5F3"/>
          </a:solidFill>
          <a:ln xmlns:a="http://schemas.openxmlformats.org/drawingml/2006/main" w="22925">
            <a:solidFill>
              <a:srgbClr val="143C3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610855-B21F-4DFA-85EF-3669419E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7139" y="1714080"/>
            <a:ext cx="1971514" cy="320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rPr>
              <a:t>保留 1 组候选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76C62E-2922-422F-8C3F-82557260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7139" y="2090043"/>
            <a:ext cx="1971514" cy="6877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rPr>
              <a:t>膜厚约 208.19 nm</a:t>
            </a:r>
          </a:p>
          <a:p xmlns:a="http://schemas.openxmlformats.org/drawingml/2006/main">
            <a:pPr>
              <a:def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61" b="0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rPr>
              <a:t>范围 0–1000 nm</a:t>
            </a:r>
          </a:p>
        </p:txBody>
      </p: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1EB9AE-82F9-4997-9DB2-51414AABB1EC}"/>
              </a:ext>
            </a:extLst>
          </p:cNvPr>
          <p:cNvCxnSpPr/>
          <p:nvPr/>
        </p:nvCxnSpPr>
        <p:spPr>
          <a:xfrm xmlns:a="http://schemas.openxmlformats.org/drawingml/2006/main">
            <a:off x="3069956" y="2227591"/>
            <a:ext cx="348454" cy="0"/>
          </a:xfrm>
          <a:prstGeom xmlns:a="http://schemas.openxmlformats.org/drawingml/2006/main" prst="straightConnector1">
            <a:avLst/>
          </a:prstGeom>
          <a:ln xmlns:a="http://schemas.openxmlformats.org/drawingml/2006/main" w="27509">
            <a:solidFill>
              <a:srgbClr val="143C37"/>
            </a:solidFill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61042D-4438-479E-87BD-1AB63C7E48B3}"/>
              </a:ext>
            </a:extLst>
          </p:cNvPr>
          <p:cNvCxnSpPr/>
          <p:nvPr/>
        </p:nvCxnSpPr>
        <p:spPr>
          <a:xfrm xmlns:a="http://schemas.openxmlformats.org/drawingml/2006/main">
            <a:off x="5912603" y="2227591"/>
            <a:ext cx="348454" cy="0"/>
          </a:xfrm>
          <a:prstGeom xmlns:a="http://schemas.openxmlformats.org/drawingml/2006/main" prst="straightConnector1">
            <a:avLst/>
          </a:prstGeom>
          <a:ln xmlns:a="http://schemas.openxmlformats.org/drawingml/2006/main" w="27509">
            <a:solidFill>
              <a:srgbClr val="143C37"/>
            </a:solidFill>
            <a:tailEnd type="triangle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C121C5-6F0B-4A2B-A987-9245217A7B65}"/>
              </a:ext>
            </a:extLst>
          </p:cNvPr>
          <p:cNvCxnSpPr/>
          <p:nvPr/>
        </p:nvCxnSpPr>
        <p:spPr>
          <a:xfrm xmlns:a="http://schemas.openxmlformats.org/drawingml/2006/main">
            <a:off x="8755251" y="2227591"/>
            <a:ext cx="348454" cy="0"/>
          </a:xfrm>
          <a:prstGeom xmlns:a="http://schemas.openxmlformats.org/drawingml/2006/main" prst="straightConnector1">
            <a:avLst/>
          </a:prstGeom>
          <a:ln xmlns:a="http://schemas.openxmlformats.org/drawingml/2006/main" w="27509">
            <a:solidFill>
              <a:srgbClr val="143C37"/>
            </a:solidFill>
            <a:tailEnd type="triangle" w="med" len="med"/>
          </a:ln>
        </p:spPr>
      </p:cxn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C3E41F-C83E-4C72-9AFC-00E4544B16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b45921d60e4194"/>
          <a:stretch xmlns:a="http://schemas.openxmlformats.org/drawingml/2006/main"/>
        </p:blipFill>
        <p:spPr>
          <a:xfrm xmlns:a="http://schemas.openxmlformats.org/drawingml/2006/main">
            <a:off x="3000375" y="2943225"/>
            <a:ext cx="6191250" cy="1715340"/>
          </a:xfrm>
          <a:prstGeom xmlns:a="http://schemas.openxmlformats.org/drawingml/2006/main" prst="rect">
            <a:avLst/>
          </a:prstGeom>
        </p:spPr>
      </p:pic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C830BC-976D-4CA9-8C73-FA7C8FA365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11d9400f70462b"/>
          <a:stretch xmlns:a="http://schemas.openxmlformats.org/drawingml/2006/main"/>
        </p:blipFill>
        <p:spPr>
          <a:xfrm xmlns:a="http://schemas.openxmlformats.org/drawingml/2006/main">
            <a:off x="685800" y="5038725"/>
            <a:ext cx="10820400" cy="853105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57B8F6-B10A-437E-933E-F152817C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rPr>
              <a:t>历史教学合成数据 · 同一模型 · 0–1000 nm 搜索范围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50F142-C7A3-469C-99A4-C1D199B5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rPr>
              <a:t>保存的 AI 选择记录（局部）：850 nm 与选择理由</a:t>
            </a:r>
          </a:p>
        </p:txBody>
      </p:sp>
    </p:spTree>
    <p:extLst>
      <p:ext uri="{BB962C8B-B14F-4D97-AF65-F5344CB8AC3E}">
        <p14:creationId xmlns:p14="http://schemas.microsoft.com/office/powerpoint/2010/main" val="8064848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58BD17-3077-4B41-9DA6-05025464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rPr>
              <a:t>三项自主创新，落实到用户的每一步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583F10-E19F-4979-A117-5576201B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D0146B-020C-47CC-BCDF-848FBB92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857250" cy="904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B8EE70"/>
          </a:solidFill>
          <a:ln xmlns:a="http://schemas.openxmlformats.org/drawingml/2006/main" w="19050">
            <a:solidFill>
              <a:srgbClr val="143C3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249DA7-7A28-49C3-8B40-40856398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7907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8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55576C-37D6-4C88-BBE2-B47C7589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647825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rPr>
              <a:t>条件来源与核对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6BB083-14FB-4507-8240-793B45DC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17170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rPr>
              <a:t>原话 → 条件、单位、出处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C0F123-2C71-4DA8-B908-BD45D1C8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71700"/>
            <a:ext cx="4333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247E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247E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247E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247E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247E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247E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247E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247E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247E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247E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4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7E78"/>
                </a:solidFill>
                <a:latin typeface="Microsoft YaHei"/>
                <a:ea typeface="Microsoft YaHei"/>
                <a:cs typeface="Microsoft YaHei"/>
              </a:rPr>
              <a:t>少填重复参数；缺项集中补充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592095-4290-4B6B-BC93-216EFFE1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857250" cy="904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B8EE70"/>
          </a:solidFill>
          <a:ln xmlns:a="http://schemas.openxmlformats.org/drawingml/2006/main" w="19050">
            <a:solidFill>
              <a:srgbClr val="143C3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D37BF4-A035-4E88-BAF6-4C3AA145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152775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8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F7F3B7-E64D-4FE8-A416-B8FC28DD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009900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rPr>
              <a:t>AI 建议接入实际计算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5BD5E7-F498-4117-BAB1-4AC6C9FA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533775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rPr>
              <a:t>建议 → 核对计划 → 批准执行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19D616-29CD-4A15-AF27-DFB70EA3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33775"/>
            <a:ext cx="4333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247E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247E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247E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247E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247E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247E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247E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247E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247E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247E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4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7E78"/>
                </a:solidFill>
                <a:latin typeface="Microsoft YaHei"/>
                <a:ea typeface="Microsoft YaHei"/>
                <a:cs typeface="Microsoft YaHei"/>
              </a:rPr>
              <a:t>看到工具计算结果与候选比较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E92A64-8902-4EC0-94C2-AA762C88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857250" cy="904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B8EE70"/>
          </a:solidFill>
          <a:ln xmlns:a="http://schemas.openxmlformats.org/drawingml/2006/main" w="19050">
            <a:solidFill>
              <a:srgbClr val="143C3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E19807-2B8D-41B7-9842-84A2AFFB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51485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8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CC0B47-FD4A-4663-A23E-26014D63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371975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rPr>
              <a:t>跨轮版本与结果复用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16D69E-1A70-48F5-A3A6-2862587D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89585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rPr>
              <a:t>修改目标 → 保持条件 → 保存新判定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2A9BCD-4B52-4682-8D55-BAEF0511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895850"/>
            <a:ext cx="4333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247E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247E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247E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247E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247E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247E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247E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247E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247E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247E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4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7E78"/>
                </a:solidFill>
                <a:latin typeface="Microsoft YaHei"/>
                <a:ea typeface="Microsoft YaHei"/>
                <a:cs typeface="Microsoft YaHei"/>
              </a:rPr>
              <a:t>沿用已有数据，随时查看旧结果</a:t>
            </a:r>
          </a:p>
        </p:txBody>
      </p:sp>
    </p:spTree>
    <p:extLst>
      <p:ext uri="{BB962C8B-B14F-4D97-AF65-F5344CB8AC3E}">
        <p14:creationId xmlns:p14="http://schemas.microsoft.com/office/powerpoint/2010/main" val="16065372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7CC960-E455-4741-A5B7-9805A7AB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rPr>
              <a:t>实际完成的任务与对应验证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2F51FF-B208-4067-BD52-9B3DF77D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737D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F9261F-14C0-44F8-9037-6631FE05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7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rPr>
              <a:t>86.02%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F130A8-B172-43F7-BE1F-AF512652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rPr>
              <a:t>850 nm · 8 层达到目标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E12306-AC1F-496E-B82F-8C0C9AC2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0020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7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rPr>
              <a:t>0 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7CC81E-AC22-4EDC-9792-0D141413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28875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rPr>
              <a:t>改为700 nm · 新增求解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06C158-BE56-44BD-99B3-943E8250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0020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7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43C37"/>
                </a:solidFill>
                <a:latin typeface="Microsoft YaHei"/>
                <a:ea typeface="Microsoft YaHei"/>
                <a:cs typeface="Microsoft YaHei"/>
              </a:rPr>
              <a:t>12 →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27FAD7-4BAA-48AC-9F2D-81001256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28875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rPr>
              <a:t>补充850 nm · 膜厚候选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3322B2-1F24-47A6-8C7E-F5131BB62CCA}"/>
              </a:ext>
            </a:extLst>
          </p:cNvPr>
          <p:cNvGraphicFramePr/>
          <p:nvPr/>
        </p:nvGraphicFramePr>
        <p:xfrm>
          <a:off xmlns:a="http://schemas.openxmlformats.org/drawingml/2006/main" x="685800" y="3362325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857750"/>
                <a:gridCol w="3581400"/>
              </a:tblGrid>
              <a:tr h="514350"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验证记录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6E1"/>
                      </a:solidFill>
                      <a:prstDash val="solid"/>
                    </a:lnL>
                    <a:lnR w="5715">
                      <a:solidFill>
                        <a:srgbClr val="DCE6E1"/>
                      </a:solidFill>
                      <a:prstDash val="solid"/>
                    </a:lnR>
                    <a:lnT w="5715">
                      <a:solidFill>
                        <a:srgbClr val="DCE6E1"/>
                      </a:solidFill>
                      <a:prstDash val="solid"/>
                    </a:lnT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已保存结果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6E1"/>
                      </a:solidFill>
                      <a:prstDash val="solid"/>
                    </a:lnR>
                    <a:lnT w="5715">
                      <a:solidFill>
                        <a:srgbClr val="DCE6E1"/>
                      </a:solidFill>
                      <a:prstDash val="solid"/>
                    </a:lnT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对应范围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6E1"/>
                      </a:solidFill>
                      <a:prstDash val="solid"/>
                    </a:lnR>
                    <a:lnT w="5715">
                      <a:solidFill>
                        <a:srgbClr val="DCE6E1"/>
                      </a:solidFill>
                      <a:prstDash val="solid"/>
                    </a:lnT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EFF5F3"/>
                    </a:solidFill>
                  </a:tcPr>
                </a:tc>
              </a:tr>
              <a:tr h="51435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主案例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6E1"/>
                      </a:solidFill>
                      <a:prstDash val="solid"/>
                    </a:lnL>
                    <a:lnR w="5715">
                      <a:solidFill>
                        <a:srgbClr val="DCE6E1"/>
                      </a:solidFill>
                      <a:prstDash val="solid"/>
                    </a:lnR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次 AI 请求 / 4 次快速计算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6E1"/>
                      </a:solidFill>
                      <a:prstDash val="solid"/>
                    </a:lnR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四候选与后续目标修改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6E1"/>
                      </a:solidFill>
                      <a:prstDash val="solid"/>
                    </a:lnR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三场景交付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6E1"/>
                      </a:solidFill>
                      <a:prstDash val="solid"/>
                    </a:lnL>
                    <a:lnR w="5715">
                      <a:solidFill>
                        <a:srgbClr val="DCE6E1"/>
                      </a:solidFill>
                      <a:prstDash val="solid"/>
                    </a:lnR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 次请求 / 14 次快速计算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6E1"/>
                      </a:solidFill>
                      <a:prstDash val="solid"/>
                    </a:lnR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既有维护批次子集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6E1"/>
                      </a:solidFill>
                      <a:prstDash val="solid"/>
                    </a:lnR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语言样例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6E1"/>
                      </a:solidFill>
                      <a:prstDash val="solid"/>
                    </a:lnL>
                    <a:lnR w="5715">
                      <a:solidFill>
                        <a:srgbClr val="DCE6E1"/>
                      </a:solidFill>
                      <a:prstDash val="solid"/>
                    </a:lnR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 条新表达 / 12 条边界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6E1"/>
                      </a:solidFill>
                      <a:prstDash val="solid"/>
                    </a:lnR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最终样例检查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6E1"/>
                      </a:solidFill>
                      <a:prstDash val="solid"/>
                    </a:lnR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软件回归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6E1"/>
                      </a:solidFill>
                      <a:prstDash val="solid"/>
                    </a:lnL>
                    <a:lnR w="5715">
                      <a:solidFill>
                        <a:srgbClr val="DCE6E1"/>
                      </a:solidFill>
                      <a:prstDash val="solid"/>
                    </a:lnR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1948 通过 / 3 跳过 / 40 子测试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6E1"/>
                      </a:solidFill>
                      <a:prstDash val="solid"/>
                    </a:lnR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9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当前维护后交付源码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6E1"/>
                      </a:solidFill>
                      <a:prstDash val="solid"/>
                    </a:lnR>
                    <a:lnB w="5715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历史教学任务来源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432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9313D"/>
                </a:solidFill>
                <a:latin typeface="Microsoft YaHei"/>
                <a:ea typeface="Microsoft YaHei"/>
                <a:cs typeface="Microsoft YaHei"/>
              </a:rPr>
              <a:t>合成教学任务 · 有限搜索范围</a:t>
            </a:r>
          </a:p>
        </p:txBody>
      </p:sp>
    </p:spTree>
    <p:extLst>
      <p:ext uri="{BB962C8B-B14F-4D97-AF65-F5344CB8AC3E}">
        <p14:creationId xmlns:p14="http://schemas.microsoft.com/office/powerpoint/2010/main" val="8940801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43C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46AB63-FE27-4265-A89B-46AD04DD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查看成果、运行案例、继续自己的实验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D5B626-4D74-41B8-8268-4679BDFC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61F81A-934D-4A27-8EE1-C7E1A36A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直接查看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C77C4F-60F9-4CF1-A364-BEDEDA47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rPr>
              <a:t>技术报告 · 展示 PDF · 只读结果</a:t>
            </a:r>
          </a:p>
          <a:p xmlns:a="http://schemas.openxmlformats.org/drawingml/2006/main">
            <a:pPr>
              <a:defRPr sz="2100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rPr>
              <a:t>无需 API Key 即可阅读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AAA50F-5FB1-43FB-99E9-53913EFF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954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下载复用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B574E6-D866-485B-A50B-FA33F0EC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rPr>
              <a:t>源码 · 12 个案例 · 数据与计划</a:t>
            </a:r>
          </a:p>
          <a:p xmlns:a="http://schemas.openxmlformats.org/drawingml/2006/main">
            <a:pPr>
              <a:defRPr sz="2025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rPr>
              <a:t>GPL-2.0-or-later · 保留第三方许可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2B242B-2ED2-4892-A2C6-9DB90644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820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运行：Linux / Ubuntu WSL + Python；Windows 提供 BAT 入口。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真实 AI 使用个人 Key；保存计划与 CSV 可用于显式批准后的复跑。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460D8F-1AE8-474C-80BD-D9292877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B8EE7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B8EE7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B8EE7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B8EE7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B8EE7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B8EE7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B8EE7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B8EE7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B8EE7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B8EE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B8EE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B8EE70"/>
                </a:solidFill>
                <a:latin typeface="Microsoft YaHei"/>
                <a:ea typeface="Microsoft YaHei"/>
                <a:cs typeface="Microsoft YaHei"/>
              </a:rPr>
              <a:t>成果访问见报名系统「作品其他材料链接」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424FE3-7552-4F3A-B100-0C968A08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35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rPr>
              <a:t>PhotonGuard  /  AIC-2026-26849458</a:t>
            </a:r>
          </a:p>
          <a:p xmlns:a="http://schemas.openxmlformats.org/drawingml/2006/main">
            <a:pPr>
              <a:defRPr sz="1575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D7E6DF"/>
                </a:solidFill>
                <a:latin typeface="Microsoft YaHei"/>
                <a:ea typeface="Microsoft YaHei"/>
                <a:cs typeface="Microsoft YaHei"/>
              </a:rPr>
              <a:t>周秋宇 · 制作统筹　谢烨新 · 操作测试　曾海达 · 数据与结果核对</a:t>
            </a:r>
          </a:p>
        </p:txBody>
      </p:sp>
    </p:spTree>
    <p:extLst>
      <p:ext uri="{BB962C8B-B14F-4D97-AF65-F5344CB8AC3E}">
        <p14:creationId xmlns:p14="http://schemas.microsoft.com/office/powerpoint/2010/main" val="5634046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2026-10-19T13:41:47.8000000Z</dcterms:created>
  <dcterms:modified xsi:type="dcterms:W3CDTF">2026-10-19T13:41:47.8000000Z</dcterms:modified>
</coreProperties>
</file>